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 id="2147483697" r:id="rId5"/>
    <p:sldMasterId id="2147483695" r:id="rId6"/>
    <p:sldMasterId id="2147483684" r:id="rId7"/>
  </p:sldMasterIdLst>
  <p:notesMasterIdLst>
    <p:notesMasterId r:id="rId24"/>
  </p:notesMasterIdLst>
  <p:handoutMasterIdLst>
    <p:handoutMasterId r:id="rId25"/>
  </p:handoutMasterIdLst>
  <p:sldIdLst>
    <p:sldId id="271" r:id="rId8"/>
    <p:sldId id="272" r:id="rId9"/>
    <p:sldId id="259" r:id="rId10"/>
    <p:sldId id="269" r:id="rId11"/>
    <p:sldId id="270" r:id="rId12"/>
    <p:sldId id="273" r:id="rId13"/>
    <p:sldId id="261" r:id="rId14"/>
    <p:sldId id="267" r:id="rId15"/>
    <p:sldId id="260" r:id="rId16"/>
    <p:sldId id="283" r:id="rId17"/>
    <p:sldId id="284" r:id="rId18"/>
    <p:sldId id="285" r:id="rId19"/>
    <p:sldId id="286" r:id="rId20"/>
    <p:sldId id="264" r:id="rId21"/>
    <p:sldId id="274" r:id="rId22"/>
    <p:sldId id="26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efore the session" id="{9248E0E9-B469-42C5-B521-34DBB63F9E0C}">
          <p14:sldIdLst>
            <p14:sldId id="271"/>
            <p14:sldId id="272"/>
            <p14:sldId id="259"/>
            <p14:sldId id="269"/>
            <p14:sldId id="270"/>
          </p14:sldIdLst>
        </p14:section>
        <p14:section name="The session" id="{9BCE8471-468A-4538-82B3-E4E62B0A593E}">
          <p14:sldIdLst>
            <p14:sldId id="273"/>
            <p14:sldId id="261"/>
            <p14:sldId id="267"/>
            <p14:sldId id="260"/>
            <p14:sldId id="283"/>
            <p14:sldId id="284"/>
            <p14:sldId id="285"/>
            <p14:sldId id="286"/>
            <p14:sldId id="264"/>
            <p14:sldId id="274"/>
            <p14:sldId id="26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466E"/>
    <a:srgbClr val="346297"/>
    <a:srgbClr val="000000"/>
    <a:srgbClr val="3B2B46"/>
    <a:srgbClr val="FFFFFF"/>
    <a:srgbClr val="34629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7370" autoAdjust="0"/>
  </p:normalViewPr>
  <p:slideViewPr>
    <p:cSldViewPr snapToGrid="0">
      <p:cViewPr varScale="1">
        <p:scale>
          <a:sx n="89" d="100"/>
          <a:sy n="89" d="100"/>
        </p:scale>
        <p:origin x="1350" y="9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200" d="100"/>
          <a:sy n="200" d="100"/>
        </p:scale>
        <p:origin x="1392" y="1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ABDC4E67-8CB2-26CB-9842-22F9A691D93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Espace réservé de la date 2">
            <a:extLst>
              <a:ext uri="{FF2B5EF4-FFF2-40B4-BE49-F238E27FC236}">
                <a16:creationId xmlns:a16="http://schemas.microsoft.com/office/drawing/2014/main" id="{CE31EB5F-53B0-CDA3-72A4-3FA9BE40D0E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440670-43D7-400A-ABC5-B69E064DBB37}" type="datetimeFigureOut">
              <a:rPr lang="en-GB" smtClean="0"/>
              <a:t>08/06/2025</a:t>
            </a:fld>
            <a:endParaRPr lang="en-GB" dirty="0"/>
          </a:p>
        </p:txBody>
      </p:sp>
      <p:sp>
        <p:nvSpPr>
          <p:cNvPr id="4" name="Espace réservé du pied de page 3">
            <a:extLst>
              <a:ext uri="{FF2B5EF4-FFF2-40B4-BE49-F238E27FC236}">
                <a16:creationId xmlns:a16="http://schemas.microsoft.com/office/drawing/2014/main" id="{00EB1E06-E4F0-A1A2-1EFB-AD58FA1AF7A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5" name="Espace réservé du numéro de diapositive 4">
            <a:extLst>
              <a:ext uri="{FF2B5EF4-FFF2-40B4-BE49-F238E27FC236}">
                <a16:creationId xmlns:a16="http://schemas.microsoft.com/office/drawing/2014/main" id="{47061963-6110-4C16-C593-C8C56E4881C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8274045-2E90-4839-9E75-1C1FCF04B584}" type="slidenum">
              <a:rPr lang="en-GB" smtClean="0"/>
              <a:t>‹#›</a:t>
            </a:fld>
            <a:endParaRPr lang="en-GB" dirty="0"/>
          </a:p>
        </p:txBody>
      </p:sp>
    </p:spTree>
    <p:extLst>
      <p:ext uri="{BB962C8B-B14F-4D97-AF65-F5344CB8AC3E}">
        <p14:creationId xmlns:p14="http://schemas.microsoft.com/office/powerpoint/2010/main" val="21401830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1B03A4-75C9-4E3D-9183-2102CA9AEC33}" type="datetimeFigureOut">
              <a:rPr lang="en-GB" smtClean="0"/>
              <a:t>08/06/2025</a:t>
            </a:fld>
            <a:endParaRPr lang="en-GB"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GB"/>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839206-A81D-4F76-8486-302187992F73}" type="slidenum">
              <a:rPr lang="en-GB" smtClean="0"/>
              <a:t>‹#›</a:t>
            </a:fld>
            <a:endParaRPr lang="en-GB" dirty="0"/>
          </a:p>
        </p:txBody>
      </p:sp>
    </p:spTree>
    <p:extLst>
      <p:ext uri="{BB962C8B-B14F-4D97-AF65-F5344CB8AC3E}">
        <p14:creationId xmlns:p14="http://schemas.microsoft.com/office/powerpoint/2010/main" val="3230807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en.wikipedia.org/wiki/High-bandwidth_Digital_Content_Protection" TargetMode="External"/><Relationship Id="rId2" Type="http://schemas.openxmlformats.org/officeDocument/2006/relationships/slide" Target="../slides/slide1.xml"/><Relationship Id="rId1" Type="http://schemas.openxmlformats.org/officeDocument/2006/relationships/notesMaster" Target="../notesMasters/notesMaster1.xml"/><Relationship Id="rId5" Type="http://schemas.openxmlformats.org/officeDocument/2006/relationships/hyperlink" Target="https://vimeo.com/thorstenbutz/byourself" TargetMode="External"/><Relationship Id="rId4" Type="http://schemas.openxmlformats.org/officeDocument/2006/relationships/image" Target="../media/image7.png"/></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a:xfrm>
            <a:off x="685800" y="4400549"/>
            <a:ext cx="2743200" cy="4467225"/>
          </a:xfrm>
        </p:spPr>
        <p:txBody>
          <a:bodyPr/>
          <a:lstStyle/>
          <a:p>
            <a:pPr>
              <a:lnSpc>
                <a:spcPct val="110000"/>
              </a:lnSpc>
            </a:pPr>
            <a:r>
              <a:rPr lang="en-US" sz="900" b="1" dirty="0">
                <a:latin typeface="Aptos" panose="020B0004020202020204" pitchFamily="34" charset="0"/>
              </a:rPr>
              <a:t>The fine print (additional information)</a:t>
            </a:r>
          </a:p>
          <a:p>
            <a:pPr>
              <a:lnSpc>
                <a:spcPct val="110000"/>
              </a:lnSpc>
            </a:pPr>
            <a:endParaRPr lang="en-US" sz="900" dirty="0">
              <a:latin typeface="Aptos" panose="020B0004020202020204" pitchFamily="34" charset="0"/>
            </a:endParaRPr>
          </a:p>
          <a:p>
            <a:pPr>
              <a:lnSpc>
                <a:spcPct val="110000"/>
              </a:lnSpc>
            </a:pPr>
            <a:r>
              <a:rPr lang="en-US" sz="900" dirty="0">
                <a:latin typeface="Aptos" panose="020B0004020202020204" pitchFamily="34" charset="0"/>
              </a:rPr>
              <a:t>Why should you care about HDCP? </a:t>
            </a:r>
          </a:p>
          <a:p>
            <a:pPr>
              <a:lnSpc>
                <a:spcPct val="110000"/>
              </a:lnSpc>
            </a:pPr>
            <a:endParaRPr lang="en-US" sz="900" dirty="0">
              <a:latin typeface="Aptos" panose="020B0004020202020204" pitchFamily="34" charset="0"/>
            </a:endParaRPr>
          </a:p>
          <a:p>
            <a:pPr>
              <a:lnSpc>
                <a:spcPct val="110000"/>
              </a:lnSpc>
            </a:pPr>
            <a:r>
              <a:rPr lang="en-US" sz="900" dirty="0">
                <a:latin typeface="Aptos" panose="020B0004020202020204" pitchFamily="34" charset="0"/>
              </a:rPr>
              <a:t>"</a:t>
            </a:r>
            <a:r>
              <a:rPr lang="en-US" sz="900" i="1" dirty="0">
                <a:latin typeface="Aptos" panose="020B0004020202020204" pitchFamily="34" charset="0"/>
              </a:rPr>
              <a:t>High-bandwidth Digital Content Protection (HDCP) is a form of digital copy protection developed by Intel Corporation to prevent copying of digital audio and video content as it travels across connections. Types of connections include DisplayPort (DP), Digital Visual Interface (DVI), and High-Definition Multimedia Interface (HDMI), as well as less popular or now deprecated protocols like Gigabit Video Interface (GVIF) and Unified Display Interface (UDI).</a:t>
            </a:r>
            <a:r>
              <a:rPr lang="en-US" sz="900" dirty="0">
                <a:latin typeface="Aptos" panose="020B0004020202020204" pitchFamily="34" charset="0"/>
              </a:rPr>
              <a:t>"</a:t>
            </a:r>
          </a:p>
          <a:p>
            <a:pPr>
              <a:lnSpc>
                <a:spcPct val="110000"/>
              </a:lnSpc>
            </a:pPr>
            <a:r>
              <a:rPr lang="de-DE" sz="900" dirty="0">
                <a:latin typeface="Aptos" panose="020B0004020202020204" pitchFamily="34" charset="0"/>
                <a:hlinkClick r:id="rId3"/>
              </a:rPr>
              <a:t>https://en.wikipedia.org/wiki/High-bandwidth_Digital_Content_Protection</a:t>
            </a:r>
            <a:endParaRPr lang="de-DE" sz="900" dirty="0">
              <a:latin typeface="Aptos" panose="020B0004020202020204" pitchFamily="34" charset="0"/>
            </a:endParaRPr>
          </a:p>
          <a:p>
            <a:pPr>
              <a:lnSpc>
                <a:spcPct val="110000"/>
              </a:lnSpc>
            </a:pPr>
            <a:endParaRPr lang="de-DE" sz="900" dirty="0">
              <a:latin typeface="Aptos" panose="020B0004020202020204" pitchFamily="34" charset="0"/>
            </a:endParaRPr>
          </a:p>
          <a:p>
            <a:pPr>
              <a:lnSpc>
                <a:spcPct val="110000"/>
              </a:lnSpc>
            </a:pPr>
            <a:r>
              <a:rPr lang="de-DE" sz="900" dirty="0">
                <a:latin typeface="Aptos" panose="020B0004020202020204" pitchFamily="34" charset="0"/>
              </a:rPr>
              <a:t>Some notebooks ignore the HDCP standard, some vendors comply with the standard. Apple and Microsoft are somehow famous for strictly following the HDCP guidelines. Sadly, we will not be able to guarantee, that your session can be recorded in the latter case.</a:t>
            </a:r>
          </a:p>
          <a:p>
            <a:pPr>
              <a:lnSpc>
                <a:spcPct val="110000"/>
              </a:lnSpc>
            </a:pPr>
            <a:endParaRPr lang="de-DE" sz="900" dirty="0">
              <a:latin typeface="Aptos" panose="020B0004020202020204" pitchFamily="34" charset="0"/>
            </a:endParaRPr>
          </a:p>
          <a:p>
            <a:pPr>
              <a:lnSpc>
                <a:spcPct val="110000"/>
              </a:lnSpc>
            </a:pPr>
            <a:r>
              <a:rPr lang="de-DE" sz="900" dirty="0">
                <a:latin typeface="Aptos" panose="020B0004020202020204" pitchFamily="34" charset="0"/>
              </a:rPr>
              <a:t>But you can do simple things, to  overcome these problems. </a:t>
            </a:r>
            <a:r>
              <a:rPr lang="en-US" sz="900" dirty="0">
                <a:latin typeface="Aptos" panose="020B0004020202020204" pitchFamily="34" charset="0"/>
              </a:rPr>
              <a:t>It is also very likely that you presented with your notebook before. So you will know, if this worked fine.If you are in doubt and if the agenda allows, try a dry-run a day before and connect everything.</a:t>
            </a:r>
          </a:p>
          <a:p>
            <a:pPr>
              <a:lnSpc>
                <a:spcPct val="110000"/>
              </a:lnSpc>
            </a:pPr>
            <a:endParaRPr lang="en-US" sz="900" dirty="0">
              <a:latin typeface="Aptos" panose="020B0004020202020204" pitchFamily="34" charset="0"/>
            </a:endParaRPr>
          </a:p>
          <a:p>
            <a:pPr>
              <a:lnSpc>
                <a:spcPct val="110000"/>
              </a:lnSpc>
            </a:pPr>
            <a:endParaRPr lang="de-DE" sz="900" dirty="0">
              <a:latin typeface="Aptos" panose="020B0004020202020204" pitchFamily="34" charset="0"/>
            </a:endParaRPr>
          </a:p>
        </p:txBody>
      </p:sp>
      <p:sp>
        <p:nvSpPr>
          <p:cNvPr id="4" name="Foliennummernplatzhalter 3"/>
          <p:cNvSpPr>
            <a:spLocks noGrp="1"/>
          </p:cNvSpPr>
          <p:nvPr>
            <p:ph type="sldNum" sz="quarter" idx="5"/>
          </p:nvPr>
        </p:nvSpPr>
        <p:spPr/>
        <p:txBody>
          <a:bodyPr/>
          <a:lstStyle/>
          <a:p>
            <a:fld id="{A7839206-A81D-4F76-8486-302187992F73}" type="slidenum">
              <a:rPr lang="en-GB" smtClean="0"/>
              <a:t>1</a:t>
            </a:fld>
            <a:endParaRPr lang="en-GB" dirty="0"/>
          </a:p>
        </p:txBody>
      </p:sp>
      <p:pic>
        <p:nvPicPr>
          <p:cNvPr id="5" name="Grafik 4" descr="https://www.amazon.de/gp/product/B09F2N17H5/ref=ppx_yo_dt_b_asin_title_o09_s00">
            <a:extLst>
              <a:ext uri="{FF2B5EF4-FFF2-40B4-BE49-F238E27FC236}">
                <a16:creationId xmlns:a16="http://schemas.microsoft.com/office/drawing/2014/main" id="{E466A8E6-289E-2C4E-027A-1D532F5BF0BF}"/>
              </a:ext>
            </a:extLst>
          </p:cNvPr>
          <p:cNvPicPr>
            <a:picLocks noChangeAspect="1"/>
          </p:cNvPicPr>
          <p:nvPr/>
        </p:nvPicPr>
        <p:blipFill>
          <a:blip r:embed="rId4"/>
          <a:stretch>
            <a:fillRect/>
          </a:stretch>
        </p:blipFill>
        <p:spPr>
          <a:xfrm>
            <a:off x="3699256" y="5256530"/>
            <a:ext cx="2202687" cy="1967734"/>
          </a:xfrm>
          <a:prstGeom prst="rect">
            <a:avLst/>
          </a:prstGeom>
        </p:spPr>
      </p:pic>
      <p:sp>
        <p:nvSpPr>
          <p:cNvPr id="6" name="Notizenplatzhalter 2">
            <a:extLst>
              <a:ext uri="{FF2B5EF4-FFF2-40B4-BE49-F238E27FC236}">
                <a16:creationId xmlns:a16="http://schemas.microsoft.com/office/drawing/2014/main" id="{6C2E4E82-CC92-21BA-6CC9-5E1EC16B971C}"/>
              </a:ext>
            </a:extLst>
          </p:cNvPr>
          <p:cNvSpPr txBox="1">
            <a:spLocks/>
          </p:cNvSpPr>
          <p:nvPr/>
        </p:nvSpPr>
        <p:spPr>
          <a:xfrm>
            <a:off x="3429000" y="4400548"/>
            <a:ext cx="2743200" cy="4467225"/>
          </a:xfrm>
          <a:prstGeom prst="rect">
            <a:avLst/>
          </a:prstGeom>
        </p:spPr>
        <p:txBody>
          <a:bodyPr vert="horz" lIns="91440" tIns="45720" rIns="91440" bIns="45720" rtlCol="0"/>
          <a:lst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a:lstStyle>
          <a:p>
            <a:pPr>
              <a:lnSpc>
                <a:spcPct val="110000"/>
              </a:lnSpc>
            </a:pPr>
            <a:r>
              <a:rPr lang="en-US" sz="900" dirty="0">
                <a:latin typeface="Aptos" panose="020B0004020202020204" pitchFamily="34" charset="0"/>
              </a:rPr>
              <a:t>In general you can easily bypass HDCP restrictions with a cheap splitter (the cheaper the better), just like the one you see below. This is an example device that we bought for 16 euros (in Germany). </a:t>
            </a:r>
          </a:p>
          <a:p>
            <a:pPr>
              <a:lnSpc>
                <a:spcPct val="110000"/>
              </a:lnSpc>
            </a:pPr>
            <a:r>
              <a:rPr lang="en-US" sz="900" dirty="0">
                <a:latin typeface="Aptos" panose="020B0004020202020204" pitchFamily="34" charset="0"/>
              </a:rPr>
              <a:t>Ask us, we will lend you such a device. </a:t>
            </a:r>
          </a:p>
          <a:p>
            <a:pPr>
              <a:lnSpc>
                <a:spcPct val="110000"/>
              </a:lnSpc>
            </a:pPr>
            <a:endParaRPr lang="en-US" sz="900" dirty="0">
              <a:latin typeface="Aptos" panose="020B0004020202020204" pitchFamily="34" charset="0"/>
            </a:endParaRPr>
          </a:p>
          <a:p>
            <a:pPr>
              <a:lnSpc>
                <a:spcPct val="110000"/>
              </a:lnSpc>
            </a:pPr>
            <a:endParaRPr lang="en-US" sz="900" dirty="0">
              <a:latin typeface="Aptos" panose="020B0004020202020204" pitchFamily="34" charset="0"/>
            </a:endParaRPr>
          </a:p>
          <a:p>
            <a:pPr>
              <a:lnSpc>
                <a:spcPct val="110000"/>
              </a:lnSpc>
            </a:pPr>
            <a:endParaRPr lang="en-US" sz="900" dirty="0">
              <a:latin typeface="Aptos" panose="020B0004020202020204" pitchFamily="34" charset="0"/>
            </a:endParaRPr>
          </a:p>
          <a:p>
            <a:pPr>
              <a:lnSpc>
                <a:spcPct val="110000"/>
              </a:lnSpc>
            </a:pPr>
            <a:endParaRPr lang="en-US" sz="900" dirty="0">
              <a:latin typeface="Aptos" panose="020B0004020202020204" pitchFamily="34" charset="0"/>
            </a:endParaRPr>
          </a:p>
          <a:p>
            <a:pPr>
              <a:lnSpc>
                <a:spcPct val="110000"/>
              </a:lnSpc>
            </a:pPr>
            <a:endParaRPr lang="en-US" sz="900" dirty="0">
              <a:latin typeface="Aptos" panose="020B0004020202020204" pitchFamily="34" charset="0"/>
            </a:endParaRPr>
          </a:p>
          <a:p>
            <a:pPr>
              <a:lnSpc>
                <a:spcPct val="110000"/>
              </a:lnSpc>
            </a:pPr>
            <a:r>
              <a:rPr lang="en-US" sz="900" dirty="0">
                <a:latin typeface="Aptos" panose="020B0004020202020204" pitchFamily="34" charset="0"/>
              </a:rPr>
              <a:t>		</a:t>
            </a:r>
          </a:p>
          <a:p>
            <a:pPr>
              <a:lnSpc>
                <a:spcPct val="110000"/>
              </a:lnSpc>
            </a:pPr>
            <a:endParaRPr lang="en-US" sz="900" dirty="0">
              <a:latin typeface="Aptos" panose="020B0004020202020204" pitchFamily="34" charset="0"/>
            </a:endParaRPr>
          </a:p>
          <a:p>
            <a:pPr>
              <a:lnSpc>
                <a:spcPct val="110000"/>
              </a:lnSpc>
            </a:pPr>
            <a:endParaRPr lang="en-US" sz="900" dirty="0">
              <a:latin typeface="Aptos" panose="020B0004020202020204" pitchFamily="34" charset="0"/>
            </a:endParaRPr>
          </a:p>
          <a:p>
            <a:pPr>
              <a:lnSpc>
                <a:spcPct val="110000"/>
              </a:lnSpc>
            </a:pPr>
            <a:endParaRPr lang="en-US" sz="900" dirty="0">
              <a:latin typeface="Aptos" panose="020B0004020202020204" pitchFamily="34" charset="0"/>
            </a:endParaRPr>
          </a:p>
          <a:p>
            <a:pPr>
              <a:lnSpc>
                <a:spcPct val="110000"/>
              </a:lnSpc>
            </a:pPr>
            <a:endParaRPr lang="en-US" sz="900" dirty="0">
              <a:latin typeface="Aptos" panose="020B0004020202020204" pitchFamily="34" charset="0"/>
            </a:endParaRPr>
          </a:p>
          <a:p>
            <a:pPr>
              <a:lnSpc>
                <a:spcPct val="110000"/>
              </a:lnSpc>
            </a:pPr>
            <a:endParaRPr lang="en-US" sz="900" dirty="0">
              <a:latin typeface="Aptos" panose="020B0004020202020204" pitchFamily="34" charset="0"/>
            </a:endParaRPr>
          </a:p>
          <a:p>
            <a:pPr>
              <a:lnSpc>
                <a:spcPct val="110000"/>
              </a:lnSpc>
            </a:pPr>
            <a:endParaRPr lang="en-US" sz="900" dirty="0">
              <a:latin typeface="Aptos" panose="020B0004020202020204" pitchFamily="34" charset="0"/>
            </a:endParaRPr>
          </a:p>
          <a:p>
            <a:pPr>
              <a:lnSpc>
                <a:spcPct val="110000"/>
              </a:lnSpc>
            </a:pPr>
            <a:endParaRPr lang="en-US" sz="900" dirty="0">
              <a:latin typeface="Aptos" panose="020B0004020202020204" pitchFamily="34" charset="0"/>
            </a:endParaRPr>
          </a:p>
          <a:p>
            <a:pPr>
              <a:lnSpc>
                <a:spcPct val="110000"/>
              </a:lnSpc>
            </a:pPr>
            <a:endParaRPr lang="en-US" sz="900" dirty="0">
              <a:latin typeface="Aptos" panose="020B0004020202020204" pitchFamily="34" charset="0"/>
            </a:endParaRPr>
          </a:p>
          <a:p>
            <a:pPr>
              <a:lnSpc>
                <a:spcPct val="110000"/>
              </a:lnSpc>
            </a:pPr>
            <a:endParaRPr lang="en-US" sz="900" dirty="0">
              <a:latin typeface="Aptos" panose="020B0004020202020204" pitchFamily="34" charset="0"/>
            </a:endParaRPr>
          </a:p>
          <a:p>
            <a:pPr>
              <a:lnSpc>
                <a:spcPct val="110000"/>
              </a:lnSpc>
            </a:pPr>
            <a:r>
              <a:rPr lang="en-US" sz="900" dirty="0">
                <a:latin typeface="Aptos" panose="020B0004020202020204" pitchFamily="34" charset="0"/>
              </a:rPr>
              <a:t>Thorsten also gave a whole presentation about "Broadcasting yourself" -  easy steps to record yourself and create a (backup) session recording on your own. If you want to invest your time and dive deeper, take a look at his recordings and notes:</a:t>
            </a:r>
            <a:endParaRPr lang="de-DE" sz="900">
              <a:latin typeface="Aptos" panose="020B0004020202020204" pitchFamily="34" charset="0"/>
            </a:endParaRPr>
          </a:p>
          <a:p>
            <a:pPr>
              <a:lnSpc>
                <a:spcPct val="110000"/>
              </a:lnSpc>
              <a:spcAft>
                <a:spcPts val="1000"/>
              </a:spcAft>
            </a:pPr>
            <a:r>
              <a:rPr lang="de-DE" sz="900">
                <a:latin typeface="Aptos" panose="020B0004020202020204" pitchFamily="34" charset="0"/>
                <a:hlinkClick r:id="rId5"/>
              </a:rPr>
              <a:t>https://vimeo.com/thorstenbutz/byourself</a:t>
            </a:r>
            <a:endParaRPr lang="de-DE" sz="900">
              <a:latin typeface="Aptos" panose="020B0004020202020204" pitchFamily="34" charset="0"/>
            </a:endParaRPr>
          </a:p>
          <a:p>
            <a:pPr>
              <a:lnSpc>
                <a:spcPct val="110000"/>
              </a:lnSpc>
            </a:pPr>
            <a:r>
              <a:rPr lang="en-US" sz="900" dirty="0">
                <a:latin typeface="Aptos" panose="020B0004020202020204" pitchFamily="34" charset="0"/>
              </a:rPr>
              <a:t>This is of course completely voluntary, but perhaps you will find it helpful. </a:t>
            </a:r>
          </a:p>
          <a:p>
            <a:pPr>
              <a:lnSpc>
                <a:spcPct val="110000"/>
              </a:lnSpc>
            </a:pPr>
            <a:endParaRPr lang="en-US" sz="900" dirty="0">
              <a:latin typeface="Aptos" panose="020B0004020202020204" pitchFamily="34" charset="0"/>
            </a:endParaRPr>
          </a:p>
          <a:p>
            <a:pPr>
              <a:lnSpc>
                <a:spcPct val="110000"/>
              </a:lnSpc>
            </a:pPr>
            <a:endParaRPr lang="en-US" sz="900" dirty="0">
              <a:latin typeface="Aptos" panose="020B0004020202020204" pitchFamily="34" charset="0"/>
            </a:endParaRPr>
          </a:p>
          <a:p>
            <a:pPr>
              <a:lnSpc>
                <a:spcPct val="110000"/>
              </a:lnSpc>
            </a:pPr>
            <a:endParaRPr lang="en-US" sz="900" dirty="0">
              <a:latin typeface="Aptos" panose="020B0004020202020204" pitchFamily="34" charset="0"/>
            </a:endParaRPr>
          </a:p>
          <a:p>
            <a:pPr>
              <a:lnSpc>
                <a:spcPct val="110000"/>
              </a:lnSpc>
            </a:pPr>
            <a:endParaRPr lang="de-DE" sz="900">
              <a:latin typeface="Aptos" panose="020B0004020202020204" pitchFamily="34" charset="0"/>
            </a:endParaRPr>
          </a:p>
          <a:p>
            <a:pPr>
              <a:lnSpc>
                <a:spcPct val="110000"/>
              </a:lnSpc>
            </a:pPr>
            <a:endParaRPr lang="en-DE" sz="900">
              <a:latin typeface="Aptos" panose="020B0004020202020204" pitchFamily="34" charset="0"/>
            </a:endParaRPr>
          </a:p>
        </p:txBody>
      </p:sp>
    </p:spTree>
    <p:extLst>
      <p:ext uri="{BB962C8B-B14F-4D97-AF65-F5344CB8AC3E}">
        <p14:creationId xmlns:p14="http://schemas.microsoft.com/office/powerpoint/2010/main" val="414027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2</a:t>
            </a:fld>
            <a:endParaRPr lang="en-GB" dirty="0"/>
          </a:p>
        </p:txBody>
      </p:sp>
    </p:spTree>
    <p:extLst>
      <p:ext uri="{BB962C8B-B14F-4D97-AF65-F5344CB8AC3E}">
        <p14:creationId xmlns:p14="http://schemas.microsoft.com/office/powerpoint/2010/main" val="302026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3</a:t>
            </a:fld>
            <a:endParaRPr lang="en-GB" dirty="0"/>
          </a:p>
        </p:txBody>
      </p:sp>
    </p:spTree>
    <p:extLst>
      <p:ext uri="{BB962C8B-B14F-4D97-AF65-F5344CB8AC3E}">
        <p14:creationId xmlns:p14="http://schemas.microsoft.com/office/powerpoint/2010/main" val="41985348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4</a:t>
            </a:fld>
            <a:endParaRPr lang="en-GB" dirty="0"/>
          </a:p>
        </p:txBody>
      </p:sp>
    </p:spTree>
    <p:extLst>
      <p:ext uri="{BB962C8B-B14F-4D97-AF65-F5344CB8AC3E}">
        <p14:creationId xmlns:p14="http://schemas.microsoft.com/office/powerpoint/2010/main" val="188273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DE"/>
          </a:p>
        </p:txBody>
      </p:sp>
      <p:sp>
        <p:nvSpPr>
          <p:cNvPr id="4" name="Foliennummernplatzhalter 3"/>
          <p:cNvSpPr>
            <a:spLocks noGrp="1"/>
          </p:cNvSpPr>
          <p:nvPr>
            <p:ph type="sldNum" sz="quarter" idx="5"/>
          </p:nvPr>
        </p:nvSpPr>
        <p:spPr/>
        <p:txBody>
          <a:bodyPr/>
          <a:lstStyle/>
          <a:p>
            <a:fld id="{A7839206-A81D-4F76-8486-302187992F73}" type="slidenum">
              <a:rPr lang="en-GB" smtClean="0"/>
              <a:t>5</a:t>
            </a:fld>
            <a:endParaRPr lang="en-GB" dirty="0"/>
          </a:p>
        </p:txBody>
      </p:sp>
    </p:spTree>
    <p:extLst>
      <p:ext uri="{BB962C8B-B14F-4D97-AF65-F5344CB8AC3E}">
        <p14:creationId xmlns:p14="http://schemas.microsoft.com/office/powerpoint/2010/main" val="21667267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dirty="0"/>
          </a:p>
        </p:txBody>
      </p:sp>
      <p:sp>
        <p:nvSpPr>
          <p:cNvPr id="4" name="Espace réservé du numéro de diapositive 3"/>
          <p:cNvSpPr>
            <a:spLocks noGrp="1"/>
          </p:cNvSpPr>
          <p:nvPr>
            <p:ph type="sldNum" sz="quarter" idx="5"/>
          </p:nvPr>
        </p:nvSpPr>
        <p:spPr/>
        <p:txBody>
          <a:bodyPr/>
          <a:lstStyle/>
          <a:p>
            <a:fld id="{A7839206-A81D-4F76-8486-302187992F73}" type="slidenum">
              <a:rPr lang="en-GB" smtClean="0"/>
              <a:t>7</a:t>
            </a:fld>
            <a:endParaRPr lang="en-GB" dirty="0"/>
          </a:p>
        </p:txBody>
      </p:sp>
    </p:spTree>
    <p:extLst>
      <p:ext uri="{BB962C8B-B14F-4D97-AF65-F5344CB8AC3E}">
        <p14:creationId xmlns:p14="http://schemas.microsoft.com/office/powerpoint/2010/main" val="5296006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GB" dirty="0"/>
          </a:p>
        </p:txBody>
      </p:sp>
      <p:sp>
        <p:nvSpPr>
          <p:cNvPr id="4" name="Espace réservé du numéro de diapositive 3"/>
          <p:cNvSpPr>
            <a:spLocks noGrp="1"/>
          </p:cNvSpPr>
          <p:nvPr>
            <p:ph type="sldNum" sz="quarter" idx="5"/>
          </p:nvPr>
        </p:nvSpPr>
        <p:spPr/>
        <p:txBody>
          <a:bodyPr/>
          <a:lstStyle/>
          <a:p>
            <a:fld id="{A7839206-A81D-4F76-8486-302187992F73}" type="slidenum">
              <a:rPr lang="en-GB" smtClean="0"/>
              <a:t>9</a:t>
            </a:fld>
            <a:endParaRPr lang="en-GB" dirty="0"/>
          </a:p>
        </p:txBody>
      </p:sp>
    </p:spTree>
    <p:extLst>
      <p:ext uri="{BB962C8B-B14F-4D97-AF65-F5344CB8AC3E}">
        <p14:creationId xmlns:p14="http://schemas.microsoft.com/office/powerpoint/2010/main" val="33909542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2019D-70E4-8B89-7A69-F2A4A64D0F5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E4639CE1-7F9C-BAFF-2AA4-6A0BE1F6044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E801588-A150-C31F-296E-4F845130B0CC}"/>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5207BD81-8767-B760-56BC-F5DA092D7DF3}"/>
              </a:ext>
            </a:extLst>
          </p:cNvPr>
          <p:cNvSpPr>
            <a:spLocks noGrp="1"/>
          </p:cNvSpPr>
          <p:nvPr>
            <p:ph type="sldNum" sz="quarter" idx="5"/>
          </p:nvPr>
        </p:nvSpPr>
        <p:spPr/>
        <p:txBody>
          <a:bodyPr/>
          <a:lstStyle/>
          <a:p>
            <a:fld id="{A7839206-A81D-4F76-8486-302187992F73}" type="slidenum">
              <a:rPr lang="en-GB" smtClean="0"/>
              <a:t>10</a:t>
            </a:fld>
            <a:endParaRPr lang="en-GB" dirty="0"/>
          </a:p>
        </p:txBody>
      </p:sp>
    </p:spTree>
    <p:extLst>
      <p:ext uri="{BB962C8B-B14F-4D97-AF65-F5344CB8AC3E}">
        <p14:creationId xmlns:p14="http://schemas.microsoft.com/office/powerpoint/2010/main" val="23085293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9DF43-5C3F-F323-87CF-531DFEBD633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9B149CE-140F-29CA-73F9-E763BE2CC40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D091B8E-A958-2C4D-870F-4B3F8237A187}"/>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1FBC6252-11A0-B9BB-6DAC-2E42C5C618EF}"/>
              </a:ext>
            </a:extLst>
          </p:cNvPr>
          <p:cNvSpPr>
            <a:spLocks noGrp="1"/>
          </p:cNvSpPr>
          <p:nvPr>
            <p:ph type="sldNum" sz="quarter" idx="5"/>
          </p:nvPr>
        </p:nvSpPr>
        <p:spPr/>
        <p:txBody>
          <a:bodyPr/>
          <a:lstStyle/>
          <a:p>
            <a:fld id="{A7839206-A81D-4F76-8486-302187992F73}" type="slidenum">
              <a:rPr lang="en-GB" smtClean="0"/>
              <a:t>11</a:t>
            </a:fld>
            <a:endParaRPr lang="en-GB" dirty="0"/>
          </a:p>
        </p:txBody>
      </p:sp>
    </p:spTree>
    <p:extLst>
      <p:ext uri="{BB962C8B-B14F-4D97-AF65-F5344CB8AC3E}">
        <p14:creationId xmlns:p14="http://schemas.microsoft.com/office/powerpoint/2010/main" val="16877494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25635-AAD1-3E7C-941A-C938C309AD2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401C08F-6C59-4104-39AC-9E761E4BCB8B}"/>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BFF2AB9-63F9-84A9-4DC2-88402E0C6082}"/>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DE02E76F-8E48-4553-DD29-98AC85E2309A}"/>
              </a:ext>
            </a:extLst>
          </p:cNvPr>
          <p:cNvSpPr>
            <a:spLocks noGrp="1"/>
          </p:cNvSpPr>
          <p:nvPr>
            <p:ph type="sldNum" sz="quarter" idx="5"/>
          </p:nvPr>
        </p:nvSpPr>
        <p:spPr/>
        <p:txBody>
          <a:bodyPr/>
          <a:lstStyle/>
          <a:p>
            <a:fld id="{A7839206-A81D-4F76-8486-302187992F73}" type="slidenum">
              <a:rPr lang="en-GB" smtClean="0"/>
              <a:t>12</a:t>
            </a:fld>
            <a:endParaRPr lang="en-GB" dirty="0"/>
          </a:p>
        </p:txBody>
      </p:sp>
    </p:spTree>
    <p:extLst>
      <p:ext uri="{BB962C8B-B14F-4D97-AF65-F5344CB8AC3E}">
        <p14:creationId xmlns:p14="http://schemas.microsoft.com/office/powerpoint/2010/main" val="34133603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75E4D-8E2D-9B3B-F5EE-3A1CD78FE3F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DFEDDC9-8FC2-69CC-6D00-AE7A49686A4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AC04B28-45FD-4BB3-1882-7652D3999EB7}"/>
              </a:ext>
            </a:extLst>
          </p:cNvPr>
          <p:cNvSpPr>
            <a:spLocks noGrp="1"/>
          </p:cNvSpPr>
          <p:nvPr>
            <p:ph type="body" idx="1"/>
          </p:nvPr>
        </p:nvSpPr>
        <p:spPr/>
        <p:txBody>
          <a:bodyPr/>
          <a:lstStyle/>
          <a:p>
            <a:endParaRPr lang="en-GB" dirty="0"/>
          </a:p>
        </p:txBody>
      </p:sp>
      <p:sp>
        <p:nvSpPr>
          <p:cNvPr id="4" name="Espace réservé du numéro de diapositive 3">
            <a:extLst>
              <a:ext uri="{FF2B5EF4-FFF2-40B4-BE49-F238E27FC236}">
                <a16:creationId xmlns:a16="http://schemas.microsoft.com/office/drawing/2014/main" id="{6D534044-EAC1-FE2A-899A-B2C44C6EA3AC}"/>
              </a:ext>
            </a:extLst>
          </p:cNvPr>
          <p:cNvSpPr>
            <a:spLocks noGrp="1"/>
          </p:cNvSpPr>
          <p:nvPr>
            <p:ph type="sldNum" sz="quarter" idx="5"/>
          </p:nvPr>
        </p:nvSpPr>
        <p:spPr/>
        <p:txBody>
          <a:bodyPr/>
          <a:lstStyle/>
          <a:p>
            <a:fld id="{A7839206-A81D-4F76-8486-302187992F73}" type="slidenum">
              <a:rPr lang="en-GB" smtClean="0"/>
              <a:t>13</a:t>
            </a:fld>
            <a:endParaRPr lang="en-GB" dirty="0"/>
          </a:p>
        </p:txBody>
      </p:sp>
    </p:spTree>
    <p:extLst>
      <p:ext uri="{BB962C8B-B14F-4D97-AF65-F5344CB8AC3E}">
        <p14:creationId xmlns:p14="http://schemas.microsoft.com/office/powerpoint/2010/main" val="30083837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s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0342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nly black">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2341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ly blue">
    <p:bg>
      <p:bgPr>
        <a:solidFill>
          <a:srgbClr val="346297"/>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86150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ly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01666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s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5659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044C786-AD10-7D88-1933-9D7659D256DF}"/>
              </a:ext>
            </a:extLst>
          </p:cNvPr>
          <p:cNvSpPr>
            <a:spLocks noGrp="1"/>
          </p:cNvSpPr>
          <p:nvPr>
            <p:ph idx="1"/>
          </p:nvPr>
        </p:nvSpPr>
        <p:spPr>
          <a:xfrm>
            <a:off x="3467314" y="1852863"/>
            <a:ext cx="7886486" cy="4324100"/>
          </a:xfrm>
          <a:prstGeom prst="rect">
            <a:avLst/>
          </a:prstGeom>
        </p:spPr>
        <p:txBody>
          <a:bodyPr vert="horz" lIns="91440" tIns="45720" rIns="91440" bIns="45720" rtlCol="0">
            <a:normAutofit/>
          </a:bodyPr>
          <a:lstStyle/>
          <a:p>
            <a:pPr lvl="0"/>
            <a:r>
              <a:rPr lang="en-US"/>
              <a:t>Your bio</a:t>
            </a:r>
            <a:endParaRPr lang="en-GB"/>
          </a:p>
        </p:txBody>
      </p:sp>
      <p:sp>
        <p:nvSpPr>
          <p:cNvPr id="4" name="Title Placeholder 1">
            <a:extLst>
              <a:ext uri="{FF2B5EF4-FFF2-40B4-BE49-F238E27FC236}">
                <a16:creationId xmlns:a16="http://schemas.microsoft.com/office/drawing/2014/main" id="{1BA7B894-6BCA-2B29-BA04-8AAB1735BFFD}"/>
              </a:ext>
            </a:extLst>
          </p:cNvPr>
          <p:cNvSpPr>
            <a:spLocks noGrp="1"/>
          </p:cNvSpPr>
          <p:nvPr>
            <p:ph type="title"/>
          </p:nvPr>
        </p:nvSpPr>
        <p:spPr>
          <a:xfrm>
            <a:off x="3467313" y="324853"/>
            <a:ext cx="7886485" cy="1325563"/>
          </a:xfrm>
          <a:prstGeom prst="rect">
            <a:avLst/>
          </a:prstGeom>
        </p:spPr>
        <p:txBody>
          <a:bodyPr vert="horz" lIns="91440" tIns="45720" rIns="91440" bIns="45720" rtlCol="0" anchor="ctr">
            <a:normAutofit/>
          </a:bodyPr>
          <a:lstStyle/>
          <a:p>
            <a:r>
              <a:rPr lang="en-US"/>
              <a:t>Speaker’s name</a:t>
            </a:r>
            <a:endParaRPr lang="en-GB"/>
          </a:p>
        </p:txBody>
      </p:sp>
    </p:spTree>
    <p:extLst>
      <p:ext uri="{BB962C8B-B14F-4D97-AF65-F5344CB8AC3E}">
        <p14:creationId xmlns:p14="http://schemas.microsoft.com/office/powerpoint/2010/main" val="1603374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FF0C1-723F-8331-7203-2AD1CA3085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E200EBD9-8D5A-98D4-BC92-CE5E1C7560F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141723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3D202-8931-7832-6C93-86B82B68652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25BBC0C-D418-7F75-653D-7BD01A94CB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2802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93987-4D9C-734A-F0DD-FA7C5E5BFDF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48C8F2A-06F7-926F-11A3-0E18B5E012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47603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9D26B-2105-B752-1559-A5E7E358065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0CB2030-5E24-3C76-AF6E-BEABDB29D9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10EF88D-DEBE-FA6D-7C2B-49DE203B99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53025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0F04B-2070-B32A-26F9-689ACEB1798E}"/>
              </a:ext>
            </a:extLst>
          </p:cNvPr>
          <p:cNvSpPr>
            <a:spLocks noGrp="1"/>
          </p:cNvSpPr>
          <p:nvPr>
            <p:ph type="title"/>
          </p:nvPr>
        </p:nvSpPr>
        <p:spPr>
          <a:xfrm>
            <a:off x="839788" y="365125"/>
            <a:ext cx="9721532"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4351C8F-389D-6D1D-529E-8F7B5D2561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7AB8FD-3AC0-420A-CD1A-4BB2C4DEB2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2E0881B-0B39-A9CB-08B8-7FA6C0D98A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927CCB1-27F7-D503-AC18-183950FAE8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2547285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E4D49-1A5A-DFCF-8CA7-93B2889E2B5F}"/>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1650198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04708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1FA22-F0C4-1510-0E4C-953C802C4E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786368D-1D41-F3F9-3D07-85EFF2CFBC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B83765E-1500-5380-7D29-9BED9AFAFC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9641347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19606-9316-A7A0-65BC-635A494F00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3637042-5D0D-C650-5659-376D12BF8F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39EF090A-47F3-1576-D5A3-105EE33762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074897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3B042-3840-06BB-E1DF-E9094D81989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DCC1C5E-7112-083E-8A66-4B30A4DD391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02736460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theme" Target="../theme/theme2.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3.xml"/><Relationship Id="rId1" Type="http://schemas.openxmlformats.org/officeDocument/2006/relationships/slideLayout" Target="../slideLayouts/slideLayout6.xml"/><Relationship Id="rId4"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image" Target="../media/image5.png"/><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image" Target="../media/image1.png"/><Relationship Id="rId2" Type="http://schemas.openxmlformats.org/officeDocument/2006/relationships/slideLayout" Target="../slideLayouts/slideLayout8.xml"/><Relationship Id="rId16"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theme" Target="../theme/theme4.xml"/><Relationship Id="rId5" Type="http://schemas.openxmlformats.org/officeDocument/2006/relationships/slideLayout" Target="../slideLayouts/slideLayout11.xml"/><Relationship Id="rId15" Type="http://schemas.openxmlformats.org/officeDocument/2006/relationships/image" Target="../media/image3.png"/><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image" Target="../media/image6.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4" name="Image 13" descr="Une image contenant texte&#10;&#10;Description générée automatiquement">
            <a:extLst>
              <a:ext uri="{FF2B5EF4-FFF2-40B4-BE49-F238E27FC236}">
                <a16:creationId xmlns:a16="http://schemas.microsoft.com/office/drawing/2014/main" id="{46B6AA1A-3151-3AC2-83FB-1C6A4D626CEE}"/>
              </a:ext>
            </a:extLst>
          </p:cNvPr>
          <p:cNvPicPr>
            <a:picLocks noGrp="1" noRot="1" noChangeAspec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tretch>
            <a:fillRect/>
          </a:stretch>
        </p:blipFill>
        <p:spPr>
          <a:xfrm>
            <a:off x="1184" y="0"/>
            <a:ext cx="12189631" cy="6858000"/>
          </a:xfrm>
          <a:prstGeom prst="rect">
            <a:avLst/>
          </a:prstGeom>
        </p:spPr>
      </p:pic>
      <p:pic>
        <p:nvPicPr>
          <p:cNvPr id="3" name="Image 2">
            <a:extLst>
              <a:ext uri="{FF2B5EF4-FFF2-40B4-BE49-F238E27FC236}">
                <a16:creationId xmlns:a16="http://schemas.microsoft.com/office/drawing/2014/main" id="{E38E8CAF-D224-9556-511F-8D65E9383F2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010591" y="137310"/>
            <a:ext cx="4166241" cy="1426795"/>
          </a:xfrm>
          <a:prstGeom prst="rect">
            <a:avLst/>
          </a:prstGeom>
        </p:spPr>
      </p:pic>
      <p:pic>
        <p:nvPicPr>
          <p:cNvPr id="5" name="Image 4" descr="Une image contenant Police, Graphique, graphisme, capture d’écran&#10;&#10;Description générée automatiquement">
            <a:extLst>
              <a:ext uri="{FF2B5EF4-FFF2-40B4-BE49-F238E27FC236}">
                <a16:creationId xmlns:a16="http://schemas.microsoft.com/office/drawing/2014/main" id="{4BAF5A96-834B-D12C-CB6C-63FE02477529}"/>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08900" y="6138849"/>
            <a:ext cx="2720050" cy="528285"/>
          </a:xfrm>
          <a:prstGeom prst="rect">
            <a:avLst/>
          </a:prstGeom>
        </p:spPr>
      </p:pic>
    </p:spTree>
    <p:extLst>
      <p:ext uri="{BB962C8B-B14F-4D97-AF65-F5344CB8AC3E}">
        <p14:creationId xmlns:p14="http://schemas.microsoft.com/office/powerpoint/2010/main" val="1739929472"/>
      </p:ext>
    </p:extLst>
  </p:cSld>
  <p:clrMap bg1="lt1" tx1="dk1" bg2="lt2" tx2="dk2" accent1="accent1" accent2="accent2" accent3="accent3" accent4="accent4" accent5="accent5" accent6="accent6" hlink="hlink" folHlink="folHlink"/>
  <p:sldLayoutIdLst>
    <p:sldLayoutId id="2147483649" r:id="rId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tel 1">
            <a:extLst>
              <a:ext uri="{FF2B5EF4-FFF2-40B4-BE49-F238E27FC236}">
                <a16:creationId xmlns:a16="http://schemas.microsoft.com/office/drawing/2014/main" id="{427B60B6-58D4-7B9F-C29A-CE66AF93F596}"/>
              </a:ext>
            </a:extLst>
          </p:cNvPr>
          <p:cNvSpPr txBox="1">
            <a:spLocks/>
          </p:cNvSpPr>
          <p:nvPr userDrawn="1"/>
        </p:nvSpPr>
        <p:spPr>
          <a:xfrm>
            <a:off x="0" y="1"/>
            <a:ext cx="12192000" cy="6858000"/>
          </a:xfrm>
          <a:prstGeom prst="rect">
            <a:avLst/>
          </a:prstGeom>
        </p:spPr>
        <p:txBody>
          <a:bodyPr anchor="ctr" anchorCtr="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de-DE" sz="25000">
                <a:latin typeface="Stencil" panose="040409050D0802020404" pitchFamily="82" charset="0"/>
              </a:rPr>
              <a:t> </a:t>
            </a:r>
            <a:endParaRPr lang="en-DE" sz="25000">
              <a:latin typeface="Stencil" panose="040409050D0802020404" pitchFamily="82" charset="0"/>
            </a:endParaRPr>
          </a:p>
        </p:txBody>
      </p:sp>
    </p:spTree>
    <p:extLst>
      <p:ext uri="{BB962C8B-B14F-4D97-AF65-F5344CB8AC3E}">
        <p14:creationId xmlns:p14="http://schemas.microsoft.com/office/powerpoint/2010/main" val="2018877621"/>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 6" descr="Une image contenant texte&#10;&#10;Description générée automatiquement">
            <a:extLst>
              <a:ext uri="{FF2B5EF4-FFF2-40B4-BE49-F238E27FC236}">
                <a16:creationId xmlns:a16="http://schemas.microsoft.com/office/drawing/2014/main" id="{E6A8F4F5-7628-E9E8-23A7-09169C6794F7}"/>
              </a:ext>
            </a:extLst>
          </p:cNvPr>
          <p:cNvPicPr>
            <a:picLocks noGrp="1" noRot="1" noMove="1" noResize="1" noEditPoints="1" noAdjustHandles="1" noChangeArrowheads="1" noChangeShapeType="1" noCrop="1"/>
          </p:cNvPicPr>
          <p:nvPr userDrawn="1"/>
        </p:nvPicPr>
        <p:blipFill>
          <a:blip r:embed="rId3">
            <a:extLst>
              <a:ext uri="{28A0092B-C50C-407E-A947-70E740481C1C}">
                <a14:useLocalDpi xmlns:a14="http://schemas.microsoft.com/office/drawing/2010/main" val="0"/>
              </a:ext>
            </a:extLst>
          </a:blip>
          <a:stretch>
            <a:fillRect/>
          </a:stretch>
        </p:blipFill>
        <p:spPr>
          <a:xfrm>
            <a:off x="2369" y="0"/>
            <a:ext cx="12189631" cy="6858000"/>
          </a:xfrm>
          <a:prstGeom prst="rect">
            <a:avLst/>
          </a:prstGeom>
        </p:spPr>
      </p:pic>
      <p:sp>
        <p:nvSpPr>
          <p:cNvPr id="5" name="Espace réservé du numéro de diapositive 5">
            <a:extLst>
              <a:ext uri="{FF2B5EF4-FFF2-40B4-BE49-F238E27FC236}">
                <a16:creationId xmlns:a16="http://schemas.microsoft.com/office/drawing/2014/main" id="{4C3130C9-6C42-7585-6BD1-4DAF5FC10ABC}"/>
              </a:ext>
            </a:extLst>
          </p:cNvPr>
          <p:cNvSpPr txBox="1">
            <a:spLocks/>
          </p:cNvSpPr>
          <p:nvPr userDrawn="1"/>
        </p:nvSpPr>
        <p:spPr>
          <a:xfrm>
            <a:off x="7001787" y="6335963"/>
            <a:ext cx="2273968"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dirty="0">
                <a:solidFill>
                  <a:srgbClr val="346296"/>
                </a:solidFill>
              </a:rPr>
              <a:t>@shaunlawrie.com</a:t>
            </a:r>
          </a:p>
        </p:txBody>
      </p:sp>
      <p:pic>
        <p:nvPicPr>
          <p:cNvPr id="6" name="Picture 5" descr="A blue butterfly on a black background&#10;&#10;AI-generated content may be incorrect.">
            <a:extLst>
              <a:ext uri="{FF2B5EF4-FFF2-40B4-BE49-F238E27FC236}">
                <a16:creationId xmlns:a16="http://schemas.microsoft.com/office/drawing/2014/main" id="{EA31197B-75A8-AB4D-A97F-B3DB5A5B3A8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81653" y="6386880"/>
            <a:ext cx="324542" cy="284802"/>
          </a:xfrm>
          <a:prstGeom prst="rect">
            <a:avLst/>
          </a:prstGeom>
        </p:spPr>
      </p:pic>
    </p:spTree>
    <p:extLst>
      <p:ext uri="{BB962C8B-B14F-4D97-AF65-F5344CB8AC3E}">
        <p14:creationId xmlns:p14="http://schemas.microsoft.com/office/powerpoint/2010/main" val="1520531744"/>
      </p:ext>
    </p:extLst>
  </p:cSld>
  <p:clrMap bg1="lt1" tx1="dk1" bg2="lt2" tx2="dk2" accent1="accent1" accent2="accent2" accent3="accent3" accent4="accent4" accent5="accent5" accent6="accent6" hlink="hlink" folHlink="folHlink"/>
  <p:sldLayoutIdLst>
    <p:sldLayoutId id="2147483696" r:id="rId1"/>
  </p:sldLayoutIdLst>
  <p:txStyles>
    <p:titleStyle>
      <a:lvl1pPr algn="l" defTabSz="914400" rtl="0" eaLnBrk="1" latinLnBrk="0" hangingPunct="1">
        <a:lnSpc>
          <a:spcPct val="90000"/>
        </a:lnSpc>
        <a:spcBef>
          <a:spcPct val="0"/>
        </a:spcBef>
        <a:buNone/>
        <a:defRPr lang="en-GB" sz="5400" b="1" kern="1200" dirty="0">
          <a:solidFill>
            <a:srgbClr val="3B2B4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GB" sz="32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 6" descr="Une image contenant texte&#10;&#10;Description générée automatiquement">
            <a:extLst>
              <a:ext uri="{FF2B5EF4-FFF2-40B4-BE49-F238E27FC236}">
                <a16:creationId xmlns:a16="http://schemas.microsoft.com/office/drawing/2014/main" id="{1B01AB94-EEA2-3211-2551-34A16625A107}"/>
              </a:ext>
            </a:extLst>
          </p:cNvPr>
          <p:cNvPicPr>
            <a:picLocks noGrp="1" noRot="1" noChangeAspect="1" noMove="1" noResize="1" noEditPoints="1" noAdjustHandles="1" noChangeArrowheads="1" noChangeShapeType="1" noCrop="1"/>
          </p:cNvPicPr>
          <p:nvPr userDrawn="1"/>
        </p:nvPicPr>
        <p:blipFill>
          <a:blip r:embed="rId12">
            <a:extLst>
              <a:ext uri="{28A0092B-C50C-407E-A947-70E740481C1C}">
                <a14:useLocalDpi xmlns:a14="http://schemas.microsoft.com/office/drawing/2010/main" val="0"/>
              </a:ext>
            </a:extLst>
          </a:blip>
          <a:stretch>
            <a:fillRect/>
          </a:stretch>
        </p:blipFill>
        <p:spPr>
          <a:xfrm>
            <a:off x="2369" y="0"/>
            <a:ext cx="12189631" cy="6858000"/>
          </a:xfrm>
          <a:prstGeom prst="rect">
            <a:avLst/>
          </a:prstGeom>
        </p:spPr>
      </p:pic>
      <p:sp>
        <p:nvSpPr>
          <p:cNvPr id="2" name="Title Placeholder 1">
            <a:extLst>
              <a:ext uri="{FF2B5EF4-FFF2-40B4-BE49-F238E27FC236}">
                <a16:creationId xmlns:a16="http://schemas.microsoft.com/office/drawing/2014/main" id="{4157010D-0C09-8FBA-F719-A4ED7C3FC593}"/>
              </a:ext>
            </a:extLst>
          </p:cNvPr>
          <p:cNvSpPr>
            <a:spLocks noGrp="1"/>
          </p:cNvSpPr>
          <p:nvPr>
            <p:ph type="title"/>
          </p:nvPr>
        </p:nvSpPr>
        <p:spPr>
          <a:xfrm>
            <a:off x="838200" y="365125"/>
            <a:ext cx="973328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BC054D6-CB61-3142-2199-DDEA2FD483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0" name="Espace réservé du numéro de diapositive 5">
            <a:extLst>
              <a:ext uri="{FF2B5EF4-FFF2-40B4-BE49-F238E27FC236}">
                <a16:creationId xmlns:a16="http://schemas.microsoft.com/office/drawing/2014/main" id="{6122872C-58E4-4D8E-43AD-82C6D51A6C2A}"/>
              </a:ext>
            </a:extLst>
          </p:cNvPr>
          <p:cNvSpPr txBox="1">
            <a:spLocks/>
          </p:cNvSpPr>
          <p:nvPr userDrawn="1"/>
        </p:nvSpPr>
        <p:spPr>
          <a:xfrm>
            <a:off x="7001787" y="6335963"/>
            <a:ext cx="2273968"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b="1" dirty="0">
                <a:solidFill>
                  <a:srgbClr val="346296"/>
                </a:solidFill>
              </a:rPr>
              <a:t>@shaunlawrie.com</a:t>
            </a:r>
          </a:p>
        </p:txBody>
      </p:sp>
      <p:pic>
        <p:nvPicPr>
          <p:cNvPr id="8" name="Graphique 7">
            <a:extLst>
              <a:ext uri="{FF2B5EF4-FFF2-40B4-BE49-F238E27FC236}">
                <a16:creationId xmlns:a16="http://schemas.microsoft.com/office/drawing/2014/main" id="{59BD5C5E-FB1B-A32E-1927-AB6A3C9A6664}"/>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10822738" y="196674"/>
            <a:ext cx="1062038" cy="904875"/>
          </a:xfrm>
          <a:prstGeom prst="rect">
            <a:avLst/>
          </a:prstGeom>
        </p:spPr>
      </p:pic>
      <p:pic>
        <p:nvPicPr>
          <p:cNvPr id="5" name="Image 4" descr="Une image contenant Police, Graphique, graphisme, capture d’écran&#10;&#10;Description générée automatiquement">
            <a:extLst>
              <a:ext uri="{FF2B5EF4-FFF2-40B4-BE49-F238E27FC236}">
                <a16:creationId xmlns:a16="http://schemas.microsoft.com/office/drawing/2014/main" id="{BEDCEE56-1BA9-8210-7BDF-2455F87929E9}"/>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799716" y="1147469"/>
            <a:ext cx="1169451" cy="227129"/>
          </a:xfrm>
          <a:prstGeom prst="rect">
            <a:avLst/>
          </a:prstGeom>
        </p:spPr>
      </p:pic>
      <p:pic>
        <p:nvPicPr>
          <p:cNvPr id="6" name="Picture 5" descr="A blue butterfly on a black background&#10;&#10;AI-generated content may be incorrect.">
            <a:extLst>
              <a:ext uri="{FF2B5EF4-FFF2-40B4-BE49-F238E27FC236}">
                <a16:creationId xmlns:a16="http://schemas.microsoft.com/office/drawing/2014/main" id="{1F06EB60-E5C2-CEC2-8609-2181E0F4A307}"/>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6681653" y="6386880"/>
            <a:ext cx="324542" cy="284802"/>
          </a:xfrm>
          <a:prstGeom prst="rect">
            <a:avLst/>
          </a:prstGeom>
        </p:spPr>
      </p:pic>
    </p:spTree>
    <p:extLst>
      <p:ext uri="{BB962C8B-B14F-4D97-AF65-F5344CB8AC3E}">
        <p14:creationId xmlns:p14="http://schemas.microsoft.com/office/powerpoint/2010/main" val="257769973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Lst>
  <p:txStyles>
    <p:titleStyle>
      <a:lvl1pPr algn="l" defTabSz="914400" rtl="0" eaLnBrk="1" latinLnBrk="0" hangingPunct="1">
        <a:lnSpc>
          <a:spcPct val="90000"/>
        </a:lnSpc>
        <a:spcBef>
          <a:spcPct val="0"/>
        </a:spcBef>
        <a:buNone/>
        <a:defRPr sz="5400" b="1" kern="1200">
          <a:solidFill>
            <a:srgbClr val="3B2B4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3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3200" kern="1200">
          <a:solidFill>
            <a:srgbClr val="346297"/>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hyperlink" Target="https://pwshspectreconsole.com/" TargetMode="External"/><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feld 2">
            <a:extLst>
              <a:ext uri="{FF2B5EF4-FFF2-40B4-BE49-F238E27FC236}">
                <a16:creationId xmlns:a16="http://schemas.microsoft.com/office/drawing/2014/main" id="{A13D084F-E8FE-14E3-7A60-1AB8B95A44C2}"/>
              </a:ext>
            </a:extLst>
          </p:cNvPr>
          <p:cNvSpPr txBox="1"/>
          <p:nvPr/>
        </p:nvSpPr>
        <p:spPr>
          <a:xfrm>
            <a:off x="1046162" y="1057275"/>
            <a:ext cx="4892675" cy="5626605"/>
          </a:xfrm>
          <a:prstGeom prst="rect">
            <a:avLst/>
          </a:prstGeom>
          <a:noFill/>
        </p:spPr>
        <p:txBody>
          <a:bodyPr wrap="square" rtlCol="0">
            <a:spAutoFit/>
          </a:bodyPr>
          <a:lstStyle/>
          <a:p>
            <a:pPr>
              <a:lnSpc>
                <a:spcPct val="110000"/>
              </a:lnSpc>
            </a:pPr>
            <a:r>
              <a:rPr lang="en-US" sz="1600" noProof="0" dirty="0"/>
              <a:t>Dear Speaker, we are thrilled and honored to have you with us in Malmö in 2025. Take your time and read this before you prepare your session. </a:t>
            </a:r>
          </a:p>
          <a:p>
            <a:pPr>
              <a:lnSpc>
                <a:spcPct val="110000"/>
              </a:lnSpc>
            </a:pPr>
            <a:endParaRPr lang="en-US" sz="1600" noProof="0" dirty="0"/>
          </a:p>
          <a:p>
            <a:pPr>
              <a:lnSpc>
                <a:spcPct val="110000"/>
              </a:lnSpc>
              <a:spcAft>
                <a:spcPts val="1000"/>
              </a:spcAft>
            </a:pPr>
            <a:r>
              <a:rPr lang="en-US" sz="1600" noProof="0" dirty="0"/>
              <a:t>Since most of you have been with us before, you will already know a lot about PSConfEU. You know that we try to capture all sessions carefully and publish your work on YouTube. </a:t>
            </a:r>
            <a:r>
              <a:rPr lang="en-US" sz="1600" b="1" u="sng" noProof="0" dirty="0"/>
              <a:t>There are a few easily avoidable stumbling blocks that we would like to draw your attention to: </a:t>
            </a:r>
          </a:p>
          <a:p>
            <a:pPr marL="285750" indent="-285750">
              <a:lnSpc>
                <a:spcPct val="110000"/>
              </a:lnSpc>
              <a:buClr>
                <a:srgbClr val="C00000"/>
              </a:buClr>
              <a:buFont typeface="Arial" panose="020B0604020202020204" pitchFamily="34" charset="0"/>
              <a:buChar char="•"/>
            </a:pPr>
            <a:r>
              <a:rPr lang="en-US" sz="1600" noProof="0" dirty="0"/>
              <a:t>Your screen resolution should be</a:t>
            </a:r>
            <a:br>
              <a:rPr lang="en-US" sz="1600" noProof="0" dirty="0"/>
            </a:br>
            <a:r>
              <a:rPr lang="en-US" sz="1600" noProof="0" dirty="0"/>
              <a:t>1920x1080 px (FullHD)</a:t>
            </a:r>
          </a:p>
          <a:p>
            <a:pPr marL="285750" indent="-285750">
              <a:lnSpc>
                <a:spcPct val="110000"/>
              </a:lnSpc>
              <a:buClr>
                <a:srgbClr val="C00000"/>
              </a:buClr>
              <a:buFont typeface="Arial" panose="020B0604020202020204" pitchFamily="34" charset="0"/>
              <a:buChar char="•"/>
            </a:pPr>
            <a:r>
              <a:rPr lang="en-US" sz="1600" noProof="0" dirty="0"/>
              <a:t>You should provide a full size HDMI socket</a:t>
            </a:r>
          </a:p>
          <a:p>
            <a:pPr marL="285750" indent="-285750">
              <a:lnSpc>
                <a:spcPct val="110000"/>
              </a:lnSpc>
              <a:buClr>
                <a:srgbClr val="C00000"/>
              </a:buClr>
              <a:buFont typeface="Arial" panose="020B0604020202020204" pitchFamily="34" charset="0"/>
              <a:buChar char="•"/>
            </a:pPr>
            <a:r>
              <a:rPr lang="en-US" sz="1600" noProof="0" dirty="0"/>
              <a:t>Mirror your screen</a:t>
            </a:r>
          </a:p>
          <a:p>
            <a:pPr marL="285750" indent="-285750">
              <a:lnSpc>
                <a:spcPct val="110000"/>
              </a:lnSpc>
              <a:buClr>
                <a:srgbClr val="C00000"/>
              </a:buClr>
              <a:buFont typeface="Arial" panose="020B0604020202020204" pitchFamily="34" charset="0"/>
              <a:buChar char="•"/>
            </a:pPr>
            <a:r>
              <a:rPr lang="en-US" sz="1600" noProof="0" dirty="0"/>
              <a:t>Disable "Presenter View" in PowerPoint</a:t>
            </a:r>
          </a:p>
          <a:p>
            <a:pPr marL="285750" indent="-285750">
              <a:lnSpc>
                <a:spcPct val="110000"/>
              </a:lnSpc>
              <a:buClr>
                <a:srgbClr val="C00000"/>
              </a:buClr>
              <a:buFont typeface="Arial" panose="020B0604020202020204" pitchFamily="34" charset="0"/>
              <a:buChar char="•"/>
            </a:pPr>
            <a:r>
              <a:rPr lang="en-US" sz="1600" noProof="0" dirty="0"/>
              <a:t>Using MAC or Surface book? </a:t>
            </a:r>
            <a:br>
              <a:rPr lang="en-US" sz="1600" noProof="0" dirty="0"/>
            </a:br>
            <a:r>
              <a:rPr lang="en-US" sz="1600" noProof="0" dirty="0"/>
              <a:t>Be aware of HDCP!</a:t>
            </a:r>
          </a:p>
          <a:p>
            <a:pPr marL="285750" indent="-285750">
              <a:lnSpc>
                <a:spcPct val="110000"/>
              </a:lnSpc>
              <a:buClr>
                <a:srgbClr val="C00000"/>
              </a:buClr>
              <a:buFont typeface="Arial" panose="020B0604020202020204" pitchFamily="34" charset="0"/>
              <a:buChar char="•"/>
            </a:pPr>
            <a:r>
              <a:rPr lang="en-US" sz="1600" noProof="0" dirty="0"/>
              <a:t>Disable the ‘Night Light Mode’</a:t>
            </a:r>
          </a:p>
          <a:p>
            <a:pPr marL="285750" indent="-285750">
              <a:lnSpc>
                <a:spcPct val="110000"/>
              </a:lnSpc>
              <a:buFont typeface="Arial" panose="020B0604020202020204" pitchFamily="34" charset="0"/>
              <a:buChar char="•"/>
            </a:pPr>
            <a:endParaRPr lang="en-US" sz="1600" noProof="0" dirty="0"/>
          </a:p>
          <a:p>
            <a:pPr>
              <a:lnSpc>
                <a:spcPct val="110000"/>
              </a:lnSpc>
            </a:pPr>
            <a:endParaRPr lang="en-US" sz="1600" noProof="0" dirty="0"/>
          </a:p>
        </p:txBody>
      </p:sp>
      <p:sp>
        <p:nvSpPr>
          <p:cNvPr id="4" name="Rechteck 3">
            <a:extLst>
              <a:ext uri="{FF2B5EF4-FFF2-40B4-BE49-F238E27FC236}">
                <a16:creationId xmlns:a16="http://schemas.microsoft.com/office/drawing/2014/main" id="{CBA44082-0847-F389-B219-CBA49C7725C2}"/>
              </a:ext>
            </a:extLst>
          </p:cNvPr>
          <p:cNvSpPr/>
          <p:nvPr/>
        </p:nvSpPr>
        <p:spPr>
          <a:xfrm>
            <a:off x="0" y="0"/>
            <a:ext cx="889000" cy="6858000"/>
          </a:xfrm>
          <a:prstGeom prst="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algn="ctr"/>
            <a:r>
              <a:rPr lang="en-US" sz="4400" noProof="0" dirty="0">
                <a:latin typeface="Calibri" panose="020F0502020204030204" pitchFamily="34" charset="0"/>
                <a:ea typeface="Calibri" panose="020F0502020204030204" pitchFamily="34" charset="0"/>
                <a:cs typeface="Calibri" panose="020F0502020204030204" pitchFamily="34" charset="0"/>
              </a:rPr>
              <a:t>BURN AFTER READING</a:t>
            </a:r>
          </a:p>
        </p:txBody>
      </p:sp>
      <p:sp>
        <p:nvSpPr>
          <p:cNvPr id="2" name="Textfeld 1">
            <a:extLst>
              <a:ext uri="{FF2B5EF4-FFF2-40B4-BE49-F238E27FC236}">
                <a16:creationId xmlns:a16="http://schemas.microsoft.com/office/drawing/2014/main" id="{A196BBFD-A430-8F6F-DBB7-52C55DB3DA2F}"/>
              </a:ext>
            </a:extLst>
          </p:cNvPr>
          <p:cNvSpPr txBox="1"/>
          <p:nvPr/>
        </p:nvSpPr>
        <p:spPr>
          <a:xfrm>
            <a:off x="5938836" y="663834"/>
            <a:ext cx="5972175" cy="6000040"/>
          </a:xfrm>
          <a:prstGeom prst="rect">
            <a:avLst/>
          </a:prstGeom>
          <a:noFill/>
        </p:spPr>
        <p:txBody>
          <a:bodyPr wrap="square" rtlCol="0">
            <a:spAutoFit/>
          </a:bodyPr>
          <a:lstStyle/>
          <a:p>
            <a:pPr>
              <a:lnSpc>
                <a:spcPct val="110000"/>
              </a:lnSpc>
              <a:spcAft>
                <a:spcPts val="800"/>
              </a:spcAft>
            </a:pPr>
            <a:r>
              <a:rPr lang="en-US" sz="1600" b="1" noProof="0" dirty="0">
                <a:highlight>
                  <a:srgbClr val="00FF00"/>
                </a:highlight>
              </a:rPr>
              <a:t>about_SlideDeck</a:t>
            </a:r>
          </a:p>
          <a:p>
            <a:pPr>
              <a:lnSpc>
                <a:spcPct val="110000"/>
              </a:lnSpc>
            </a:pPr>
            <a:r>
              <a:rPr lang="en-US" sz="1600" noProof="0" dirty="0"/>
              <a:t>The actual presentation starts with slide 6 ("Session title"). The first five slides have a purely organisational purpose. During the break before your session, you should start the presentation with slide 2 ("Next up"), so that the audience knows that they are in the right room. It's fine if you start chatting with the audience during this break, </a:t>
            </a:r>
            <a:r>
              <a:rPr lang="en-US" sz="1600" b="1" noProof="0" dirty="0"/>
              <a:t>but</a:t>
            </a:r>
            <a:r>
              <a:rPr lang="en-US" sz="1600" noProof="0" dirty="0"/>
              <a:t> </a:t>
            </a:r>
            <a:r>
              <a:rPr lang="en-US" sz="1600" b="1" noProof="0" dirty="0"/>
              <a:t>we need a precise starting point for your presentation </a:t>
            </a:r>
            <a:r>
              <a:rPr lang="en-US" sz="1600" noProof="0" dirty="0"/>
              <a:t>in terms of editing your video. That means: </a:t>
            </a:r>
          </a:p>
          <a:p>
            <a:pPr>
              <a:lnSpc>
                <a:spcPct val="110000"/>
              </a:lnSpc>
            </a:pPr>
            <a:r>
              <a:rPr lang="en-US" sz="1600" noProof="0" dirty="0"/>
              <a:t>The recording of your presentation will start after the countdown. </a:t>
            </a:r>
            <a:r>
              <a:rPr lang="en-US" sz="1600" b="1" noProof="0" dirty="0"/>
              <a:t>Please  (RE)START talking after the countdown</a:t>
            </a:r>
            <a:r>
              <a:rPr lang="en-US" sz="1600" noProof="0" dirty="0"/>
              <a:t>, not during it! Otherwise your recording will start with a half sentence.  </a:t>
            </a:r>
          </a:p>
          <a:p>
            <a:pPr>
              <a:lnSpc>
                <a:spcPct val="110000"/>
              </a:lnSpc>
            </a:pPr>
            <a:r>
              <a:rPr lang="en-US" sz="1600" noProof="0" dirty="0"/>
              <a:t>It is not necessary to explicitly signal to the PA operator, this is your signal! </a:t>
            </a:r>
          </a:p>
          <a:p>
            <a:pPr>
              <a:lnSpc>
                <a:spcPct val="110000"/>
              </a:lnSpc>
            </a:pPr>
            <a:endParaRPr lang="en-US" sz="1600" noProof="0" dirty="0"/>
          </a:p>
          <a:p>
            <a:pPr>
              <a:lnSpc>
                <a:spcPct val="110000"/>
              </a:lnSpc>
            </a:pPr>
            <a:r>
              <a:rPr lang="en-US" sz="1600" noProof="0" dirty="0"/>
              <a:t>Finally, do you have to use this slide deck? </a:t>
            </a:r>
            <a:br>
              <a:rPr lang="en-US" sz="1600" noProof="0" dirty="0"/>
            </a:br>
            <a:r>
              <a:rPr lang="en-US" sz="1600" noProof="0" dirty="0"/>
              <a:t>No, you are free to present the way you like it. But you are asked </a:t>
            </a:r>
            <a:br>
              <a:rPr lang="en-US" sz="1600" noProof="0" dirty="0"/>
            </a:br>
            <a:r>
              <a:rPr lang="en-US" sz="1600" noProof="0" dirty="0"/>
              <a:t>to use the intro slides: countdown, session title, sponsor slide.</a:t>
            </a:r>
            <a:br>
              <a:rPr lang="en-US" sz="1600" noProof="0" dirty="0"/>
            </a:br>
            <a:r>
              <a:rPr lang="en-US" sz="1600" noProof="0" dirty="0"/>
              <a:t>Beyond that, use what is good for the cause – from no slides to sketches from your children, from Jupyter to $youNameIt. </a:t>
            </a:r>
          </a:p>
          <a:p>
            <a:pPr>
              <a:lnSpc>
                <a:spcPct val="110000"/>
              </a:lnSpc>
              <a:spcAft>
                <a:spcPts val="1000"/>
              </a:spcAft>
            </a:pPr>
            <a:r>
              <a:rPr lang="en-US" sz="1600" noProof="0" dirty="0"/>
              <a:t>You will find additional information in the notes below.</a:t>
            </a:r>
          </a:p>
          <a:p>
            <a:pPr>
              <a:lnSpc>
                <a:spcPct val="110000"/>
              </a:lnSpc>
            </a:pPr>
            <a:r>
              <a:rPr lang="en-US" sz="1600" i="1" noProof="0" dirty="0"/>
              <a:t>Sincerely, your hosts!</a:t>
            </a:r>
          </a:p>
        </p:txBody>
      </p:sp>
      <p:sp>
        <p:nvSpPr>
          <p:cNvPr id="5" name="Titel 4">
            <a:extLst>
              <a:ext uri="{FF2B5EF4-FFF2-40B4-BE49-F238E27FC236}">
                <a16:creationId xmlns:a16="http://schemas.microsoft.com/office/drawing/2014/main" id="{E2CFEAF8-3999-F242-E154-0BD39B8675DC}"/>
              </a:ext>
            </a:extLst>
          </p:cNvPr>
          <p:cNvSpPr>
            <a:spLocks noGrp="1"/>
          </p:cNvSpPr>
          <p:nvPr>
            <p:ph type="title" idx="4294967295"/>
          </p:nvPr>
        </p:nvSpPr>
        <p:spPr>
          <a:xfrm>
            <a:off x="1046161" y="66675"/>
            <a:ext cx="4892675" cy="662782"/>
          </a:xfrm>
          <a:prstGeom prst="rect">
            <a:avLst/>
          </a:prstGeom>
        </p:spPr>
        <p:txBody>
          <a:bodyPr/>
          <a:lstStyle/>
          <a:p>
            <a:r>
              <a:rPr lang="en-US" sz="4200" noProof="0" dirty="0">
                <a:latin typeface="Calibri" panose="020F0502020204030204" pitchFamily="34" charset="0"/>
                <a:ea typeface="Calibri" panose="020F0502020204030204" pitchFamily="34" charset="0"/>
                <a:cs typeface="Calibri" panose="020F0502020204030204" pitchFamily="34" charset="0"/>
              </a:rPr>
              <a:t>README</a:t>
            </a:r>
          </a:p>
        </p:txBody>
      </p:sp>
    </p:spTree>
    <p:extLst>
      <p:ext uri="{BB962C8B-B14F-4D97-AF65-F5344CB8AC3E}">
        <p14:creationId xmlns:p14="http://schemas.microsoft.com/office/powerpoint/2010/main" val="28310957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512BD2B3-5213-AE89-B245-3E2067844782}"/>
              </a:ext>
            </a:extLst>
          </p:cNvPr>
          <p:cNvSpPr txBox="1">
            <a:spLocks/>
          </p:cNvSpPr>
          <p:nvPr/>
        </p:nvSpPr>
        <p:spPr>
          <a:xfrm>
            <a:off x="1524000" y="4271395"/>
            <a:ext cx="9144000" cy="631759"/>
          </a:xfrm>
          <a:prstGeom prst="rect">
            <a:avLst/>
          </a:prstGeom>
        </p:spPr>
        <p:txBody>
          <a:bodyPr>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4400" kern="1200">
                <a:solidFill>
                  <a:srgbClr val="3B2B46"/>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i="1" noProof="0" dirty="0">
                <a:latin typeface="Segoe UI" panose="020B0502040204020203" pitchFamily="34" charset="0"/>
                <a:cs typeface="Segoe UI" panose="020B0502040204020203" pitchFamily="34" charset="0"/>
              </a:rPr>
              <a:t>Shaun Lawrie</a:t>
            </a:r>
          </a:p>
        </p:txBody>
      </p:sp>
      <p:cxnSp>
        <p:nvCxnSpPr>
          <p:cNvPr id="4" name="Connecteur droit 5">
            <a:extLst>
              <a:ext uri="{FF2B5EF4-FFF2-40B4-BE49-F238E27FC236}">
                <a16:creationId xmlns:a16="http://schemas.microsoft.com/office/drawing/2014/main" id="{E9631884-5100-1BA8-2365-47609B2977D7}"/>
              </a:ext>
            </a:extLst>
          </p:cNvPr>
          <p:cNvCxnSpPr/>
          <p:nvPr/>
        </p:nvCxnSpPr>
        <p:spPr>
          <a:xfrm>
            <a:off x="3867150" y="4089400"/>
            <a:ext cx="4508500" cy="0"/>
          </a:xfrm>
          <a:prstGeom prst="line">
            <a:avLst/>
          </a:prstGeom>
          <a:ln>
            <a:solidFill>
              <a:srgbClr val="3B2B46"/>
            </a:solidFill>
          </a:ln>
        </p:spPr>
        <p:style>
          <a:lnRef idx="1">
            <a:schemeClr val="accent1"/>
          </a:lnRef>
          <a:fillRef idx="0">
            <a:schemeClr val="accent1"/>
          </a:fillRef>
          <a:effectRef idx="0">
            <a:schemeClr val="accent1"/>
          </a:effectRef>
          <a:fontRef idx="minor">
            <a:schemeClr val="tx1"/>
          </a:fontRef>
        </p:style>
      </p:cxnSp>
      <p:sp>
        <p:nvSpPr>
          <p:cNvPr id="5" name="Titel 4">
            <a:extLst>
              <a:ext uri="{FF2B5EF4-FFF2-40B4-BE49-F238E27FC236}">
                <a16:creationId xmlns:a16="http://schemas.microsoft.com/office/drawing/2014/main" id="{EC34FE26-AFCF-2A09-DB2E-84FFA4D454A5}"/>
              </a:ext>
            </a:extLst>
          </p:cNvPr>
          <p:cNvSpPr>
            <a:spLocks noGrp="1"/>
          </p:cNvSpPr>
          <p:nvPr>
            <p:ph type="title" idx="4294967295"/>
          </p:nvPr>
        </p:nvSpPr>
        <p:spPr>
          <a:xfrm>
            <a:off x="863600" y="2672840"/>
            <a:ext cx="10515600" cy="1325563"/>
          </a:xfrm>
          <a:prstGeom prst="rect">
            <a:avLst/>
          </a:prstGeom>
        </p:spPr>
        <p:txBody>
          <a:bodyPr anchor="b" anchorCtr="0"/>
          <a:lstStyle/>
          <a:p>
            <a:pPr algn="ctr"/>
            <a:r>
              <a:rPr lang="en-US" sz="6000" b="1" noProof="0" dirty="0">
                <a:solidFill>
                  <a:srgbClr val="346296"/>
                </a:solidFill>
                <a:latin typeface="Segoe UI Light" panose="020B0502040204020203" pitchFamily="34" charset="0"/>
                <a:cs typeface="Segoe UI Light" panose="020B0502040204020203" pitchFamily="34" charset="0"/>
              </a:rPr>
              <a:t>Next Up:</a:t>
            </a:r>
          </a:p>
        </p:txBody>
      </p:sp>
    </p:spTree>
    <p:extLst>
      <p:ext uri="{BB962C8B-B14F-4D97-AF65-F5344CB8AC3E}">
        <p14:creationId xmlns:p14="http://schemas.microsoft.com/office/powerpoint/2010/main" val="33158865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1">
            <a:extLst>
              <a:ext uri="{FF2B5EF4-FFF2-40B4-BE49-F238E27FC236}">
                <a16:creationId xmlns:a16="http://schemas.microsoft.com/office/drawing/2014/main" id="{82643D59-896E-68AE-5BCA-3F8558F198EF}"/>
              </a:ext>
            </a:extLst>
          </p:cNvPr>
          <p:cNvSpPr txBox="1">
            <a:spLocks/>
          </p:cNvSpPr>
          <p:nvPr/>
        </p:nvSpPr>
        <p:spPr>
          <a:xfrm>
            <a:off x="838200" y="365125"/>
            <a:ext cx="973328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noProof="0" dirty="0"/>
              <a:t>3</a:t>
            </a:r>
          </a:p>
        </p:txBody>
      </p:sp>
      <p:sp>
        <p:nvSpPr>
          <p:cNvPr id="11" name="Titel 10">
            <a:extLst>
              <a:ext uri="{FF2B5EF4-FFF2-40B4-BE49-F238E27FC236}">
                <a16:creationId xmlns:a16="http://schemas.microsoft.com/office/drawing/2014/main" id="{72D13131-79CF-8701-656B-BEFF02678053}"/>
              </a:ext>
            </a:extLst>
          </p:cNvPr>
          <p:cNvSpPr>
            <a:spLocks noGrp="1"/>
          </p:cNvSpPr>
          <p:nvPr>
            <p:ph type="title" idx="4294967295"/>
          </p:nvPr>
        </p:nvSpPr>
        <p:spPr>
          <a:xfrm>
            <a:off x="0" y="0"/>
            <a:ext cx="12192000" cy="6858000"/>
          </a:xfrm>
          <a:prstGeom prst="rect">
            <a:avLst/>
          </a:prstGeom>
        </p:spPr>
        <p:txBody>
          <a:bodyPr anchor="ctr" anchorCtr="0"/>
          <a:lstStyle/>
          <a:p>
            <a:pPr algn="ctr"/>
            <a:r>
              <a:rPr lang="en-US" sz="25000" noProof="0" dirty="0">
                <a:solidFill>
                  <a:schemeClr val="bg1"/>
                </a:solidFill>
                <a:latin typeface="Stencil" panose="040409050D0802020404" pitchFamily="82" charset="0"/>
              </a:rPr>
              <a:t>3</a:t>
            </a:r>
          </a:p>
        </p:txBody>
      </p:sp>
    </p:spTree>
    <p:extLst>
      <p:ext uri="{BB962C8B-B14F-4D97-AF65-F5344CB8AC3E}">
        <p14:creationId xmlns:p14="http://schemas.microsoft.com/office/powerpoint/2010/main" val="2970004164"/>
      </p:ext>
    </p:extLst>
  </p:cSld>
  <p:clrMapOvr>
    <a:masterClrMapping/>
  </p:clrMapOvr>
  <p:transition spd="slow" advTm="1000">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a:extLst>
              <a:ext uri="{FF2B5EF4-FFF2-40B4-BE49-F238E27FC236}">
                <a16:creationId xmlns:a16="http://schemas.microsoft.com/office/drawing/2014/main" id="{72D13131-79CF-8701-656B-BEFF02678053}"/>
              </a:ext>
            </a:extLst>
          </p:cNvPr>
          <p:cNvSpPr>
            <a:spLocks noGrp="1"/>
          </p:cNvSpPr>
          <p:nvPr>
            <p:ph type="title" idx="4294967295"/>
          </p:nvPr>
        </p:nvSpPr>
        <p:spPr>
          <a:xfrm>
            <a:off x="0" y="0"/>
            <a:ext cx="12192000" cy="6858000"/>
          </a:xfrm>
          <a:prstGeom prst="rect">
            <a:avLst/>
          </a:prstGeom>
        </p:spPr>
        <p:txBody>
          <a:bodyPr anchor="ctr" anchorCtr="0"/>
          <a:lstStyle/>
          <a:p>
            <a:pPr algn="ctr"/>
            <a:r>
              <a:rPr lang="en-US" sz="25000" noProof="0" dirty="0">
                <a:solidFill>
                  <a:schemeClr val="bg1"/>
                </a:solidFill>
                <a:latin typeface="Stencil" panose="040409050D0802020404" pitchFamily="82" charset="0"/>
              </a:rPr>
              <a:t>2</a:t>
            </a:r>
          </a:p>
        </p:txBody>
      </p:sp>
    </p:spTree>
    <p:extLst>
      <p:ext uri="{BB962C8B-B14F-4D97-AF65-F5344CB8AC3E}">
        <p14:creationId xmlns:p14="http://schemas.microsoft.com/office/powerpoint/2010/main" val="986012733"/>
      </p:ext>
    </p:extLst>
  </p:cSld>
  <p:clrMapOvr>
    <a:masterClrMapping/>
  </p:clrMapOvr>
  <p:transition spd="slow" advTm="1000">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a:extLst>
              <a:ext uri="{FF2B5EF4-FFF2-40B4-BE49-F238E27FC236}">
                <a16:creationId xmlns:a16="http://schemas.microsoft.com/office/drawing/2014/main" id="{72D13131-79CF-8701-656B-BEFF02678053}"/>
              </a:ext>
            </a:extLst>
          </p:cNvPr>
          <p:cNvSpPr>
            <a:spLocks noGrp="1"/>
          </p:cNvSpPr>
          <p:nvPr>
            <p:ph type="title" idx="4294967295"/>
          </p:nvPr>
        </p:nvSpPr>
        <p:spPr>
          <a:xfrm>
            <a:off x="0" y="0"/>
            <a:ext cx="12192000" cy="6858000"/>
          </a:xfrm>
          <a:prstGeom prst="rect">
            <a:avLst/>
          </a:prstGeom>
        </p:spPr>
        <p:txBody>
          <a:bodyPr anchor="ctr" anchorCtr="0"/>
          <a:lstStyle/>
          <a:p>
            <a:pPr algn="ctr"/>
            <a:r>
              <a:rPr lang="en-US" sz="25000" noProof="0" dirty="0">
                <a:latin typeface="Stencil" panose="040409050D0802020404" pitchFamily="82" charset="0"/>
              </a:rPr>
              <a:t>1</a:t>
            </a:r>
          </a:p>
        </p:txBody>
      </p:sp>
    </p:spTree>
    <p:extLst>
      <p:ext uri="{BB962C8B-B14F-4D97-AF65-F5344CB8AC3E}">
        <p14:creationId xmlns:p14="http://schemas.microsoft.com/office/powerpoint/2010/main" val="73231530"/>
      </p:ext>
    </p:extLst>
  </p:cSld>
  <p:clrMapOvr>
    <a:masterClrMapping/>
  </p:clrMapOvr>
  <p:transition spd="slow" advTm="1000">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FB22B504-146E-1966-17CE-BB797BC6083D}"/>
              </a:ext>
            </a:extLst>
          </p:cNvPr>
          <p:cNvSpPr txBox="1">
            <a:spLocks/>
          </p:cNvSpPr>
          <p:nvPr/>
        </p:nvSpPr>
        <p:spPr>
          <a:xfrm>
            <a:off x="1524000" y="4271395"/>
            <a:ext cx="9144000" cy="631759"/>
          </a:xfrm>
          <a:prstGeom prst="rect">
            <a:avLst/>
          </a:prstGeom>
        </p:spPr>
        <p:txBody>
          <a:bodyPr>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4400" kern="1200">
                <a:solidFill>
                  <a:srgbClr val="3B2B46"/>
                </a:solidFill>
                <a:latin typeface="+mj-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i="1" noProof="0" dirty="0"/>
              <a:t>Shaun Lawrie</a:t>
            </a:r>
          </a:p>
        </p:txBody>
      </p:sp>
      <p:cxnSp>
        <p:nvCxnSpPr>
          <p:cNvPr id="6" name="Connecteur droit 5">
            <a:extLst>
              <a:ext uri="{FF2B5EF4-FFF2-40B4-BE49-F238E27FC236}">
                <a16:creationId xmlns:a16="http://schemas.microsoft.com/office/drawing/2014/main" id="{A169C0FB-08C4-E3EC-573C-91852880EBAA}"/>
              </a:ext>
            </a:extLst>
          </p:cNvPr>
          <p:cNvCxnSpPr/>
          <p:nvPr/>
        </p:nvCxnSpPr>
        <p:spPr>
          <a:xfrm>
            <a:off x="3867150" y="4089400"/>
            <a:ext cx="4508500" cy="0"/>
          </a:xfrm>
          <a:prstGeom prst="line">
            <a:avLst/>
          </a:prstGeom>
          <a:ln>
            <a:solidFill>
              <a:srgbClr val="3B2B46"/>
            </a:solidFill>
          </a:ln>
        </p:spPr>
        <p:style>
          <a:lnRef idx="1">
            <a:schemeClr val="accent1"/>
          </a:lnRef>
          <a:fillRef idx="0">
            <a:schemeClr val="accent1"/>
          </a:fillRef>
          <a:effectRef idx="0">
            <a:schemeClr val="accent1"/>
          </a:effectRef>
          <a:fontRef idx="minor">
            <a:schemeClr val="tx1"/>
          </a:fontRef>
        </p:style>
      </p:cxnSp>
      <p:sp>
        <p:nvSpPr>
          <p:cNvPr id="4" name="Titel 3">
            <a:extLst>
              <a:ext uri="{FF2B5EF4-FFF2-40B4-BE49-F238E27FC236}">
                <a16:creationId xmlns:a16="http://schemas.microsoft.com/office/drawing/2014/main" id="{0E2348EB-2258-5792-670F-322202E630B4}"/>
              </a:ext>
            </a:extLst>
          </p:cNvPr>
          <p:cNvSpPr>
            <a:spLocks noGrp="1"/>
          </p:cNvSpPr>
          <p:nvPr>
            <p:ph type="title" idx="4294967295"/>
          </p:nvPr>
        </p:nvSpPr>
        <p:spPr>
          <a:xfrm>
            <a:off x="301214" y="2666707"/>
            <a:ext cx="11585986" cy="1325563"/>
          </a:xfrm>
          <a:prstGeom prst="rect">
            <a:avLst/>
          </a:prstGeom>
        </p:spPr>
        <p:txBody>
          <a:bodyPr anchor="b" anchorCtr="0"/>
          <a:lstStyle/>
          <a:p>
            <a:pPr algn="ctr"/>
            <a:r>
              <a:rPr lang="en-US" sz="6000" b="1" noProof="0" dirty="0">
                <a:solidFill>
                  <a:srgbClr val="346296"/>
                </a:solidFill>
                <a:latin typeface="+mn-lt"/>
              </a:rPr>
              <a:t>Automagical Web Documentation for PowerShell Modules</a:t>
            </a:r>
          </a:p>
        </p:txBody>
      </p:sp>
    </p:spTree>
    <p:extLst>
      <p:ext uri="{BB962C8B-B14F-4D97-AF65-F5344CB8AC3E}">
        <p14:creationId xmlns:p14="http://schemas.microsoft.com/office/powerpoint/2010/main" val="21938168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D531CB4D-40EE-4CEA-4C1F-A86C158A8A50}"/>
              </a:ext>
            </a:extLst>
          </p:cNvPr>
          <p:cNvSpPr>
            <a:spLocks noGrp="1"/>
          </p:cNvSpPr>
          <p:nvPr>
            <p:ph type="title" idx="4294967295"/>
          </p:nvPr>
        </p:nvSpPr>
        <p:spPr>
          <a:xfrm>
            <a:off x="1009061" y="630961"/>
            <a:ext cx="9733280" cy="1325563"/>
          </a:xfrm>
        </p:spPr>
        <p:txBody>
          <a:bodyPr/>
          <a:lstStyle/>
          <a:p>
            <a:pPr rtl="0" eaLnBrk="1" latinLnBrk="0" hangingPunct="1"/>
            <a:r>
              <a:rPr lang="en-US" sz="4000" b="1" kern="1200" noProof="0" dirty="0">
                <a:solidFill>
                  <a:srgbClr val="346296"/>
                </a:solidFill>
                <a:effectLst/>
                <a:latin typeface="Calibri" panose="020F0502020204030204" pitchFamily="34" charset="0"/>
                <a:ea typeface="+mn-ea"/>
                <a:cs typeface="+mn-cs"/>
              </a:rPr>
              <a:t>Many thanks to our sponsors:</a:t>
            </a:r>
            <a:endParaRPr lang="en-US" noProof="0" dirty="0"/>
          </a:p>
        </p:txBody>
      </p:sp>
      <p:pic>
        <p:nvPicPr>
          <p:cNvPr id="6" name="Image 5" descr="Une image contenant texte, Police, capture d’écran, logo&#10;&#10;Le contenu généré par l’IA peut être incorrect.">
            <a:extLst>
              <a:ext uri="{FF2B5EF4-FFF2-40B4-BE49-F238E27FC236}">
                <a16:creationId xmlns:a16="http://schemas.microsoft.com/office/drawing/2014/main" id="{7055FC4D-305C-B66C-BD15-95904A343D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74384" y="1830625"/>
            <a:ext cx="7643232" cy="4025723"/>
          </a:xfrm>
          <a:prstGeom prst="rect">
            <a:avLst/>
          </a:prstGeom>
        </p:spPr>
      </p:pic>
    </p:spTree>
    <p:extLst>
      <p:ext uri="{BB962C8B-B14F-4D97-AF65-F5344CB8AC3E}">
        <p14:creationId xmlns:p14="http://schemas.microsoft.com/office/powerpoint/2010/main" val="3984835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2">
            <a:extLst>
              <a:ext uri="{FF2B5EF4-FFF2-40B4-BE49-F238E27FC236}">
                <a16:creationId xmlns:a16="http://schemas.microsoft.com/office/drawing/2014/main" id="{93312970-1382-905E-DF3A-5D367E6E7736}"/>
              </a:ext>
            </a:extLst>
          </p:cNvPr>
          <p:cNvSpPr txBox="1">
            <a:spLocks/>
          </p:cNvSpPr>
          <p:nvPr/>
        </p:nvSpPr>
        <p:spPr>
          <a:xfrm>
            <a:off x="3467314" y="1591607"/>
            <a:ext cx="7817544" cy="43241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lang="en-GB" sz="3200" kern="1200" dirty="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46113" indent="-646113">
              <a:buNone/>
            </a:pPr>
            <a:r>
              <a:rPr lang="en-US" noProof="0" dirty="0"/>
              <a:t>🎸 Studied to be a musician…</a:t>
            </a:r>
            <a:br>
              <a:rPr lang="en-US" noProof="0" dirty="0"/>
            </a:br>
            <a:r>
              <a:rPr lang="en-US" noProof="0" dirty="0"/>
              <a:t>Ended up working in Performance Engineering, Testing, Development, Site Reliability and more with some of the largest web platforms in New Zealand over the last 10 years.</a:t>
            </a:r>
          </a:p>
          <a:p>
            <a:pPr marL="0" indent="0">
              <a:spcBef>
                <a:spcPts val="2400"/>
              </a:spcBef>
              <a:buNone/>
            </a:pPr>
            <a:r>
              <a:rPr lang="en-US" noProof="0" dirty="0"/>
              <a:t>🏢 Platform Engineering Lead @ PartsTrader</a:t>
            </a:r>
          </a:p>
          <a:p>
            <a:pPr marL="0" indent="0">
              <a:spcBef>
                <a:spcPts val="2400"/>
              </a:spcBef>
              <a:buNone/>
            </a:pPr>
            <a:r>
              <a:rPr lang="en-US" noProof="0" dirty="0"/>
              <a:t>🌏 Wellington, New Zealand</a:t>
            </a:r>
          </a:p>
        </p:txBody>
      </p:sp>
      <p:sp>
        <p:nvSpPr>
          <p:cNvPr id="2" name="Titel 1">
            <a:extLst>
              <a:ext uri="{FF2B5EF4-FFF2-40B4-BE49-F238E27FC236}">
                <a16:creationId xmlns:a16="http://schemas.microsoft.com/office/drawing/2014/main" id="{B63F84C9-7486-D81C-EDE7-12CE856D5B81}"/>
              </a:ext>
            </a:extLst>
          </p:cNvPr>
          <p:cNvSpPr>
            <a:spLocks noGrp="1"/>
          </p:cNvSpPr>
          <p:nvPr>
            <p:ph type="title"/>
          </p:nvPr>
        </p:nvSpPr>
        <p:spPr>
          <a:xfrm>
            <a:off x="3467312" y="324852"/>
            <a:ext cx="7886485" cy="1325563"/>
          </a:xfrm>
        </p:spPr>
        <p:txBody>
          <a:bodyPr>
            <a:normAutofit/>
          </a:bodyPr>
          <a:lstStyle/>
          <a:p>
            <a:r>
              <a:rPr lang="en-US" sz="6600" noProof="0" dirty="0">
                <a:solidFill>
                  <a:srgbClr val="346296"/>
                </a:solidFill>
                <a:latin typeface="+mn-lt"/>
                <a:ea typeface="+mn-ea"/>
                <a:cs typeface="+mn-cs"/>
              </a:rPr>
              <a:t>Shaun Lawrie</a:t>
            </a:r>
          </a:p>
        </p:txBody>
      </p:sp>
      <p:pic>
        <p:nvPicPr>
          <p:cNvPr id="6" name="Picture 5" descr="A person smiling for a picture&#10;&#10;AI-generated content may be incorrect.">
            <a:extLst>
              <a:ext uri="{FF2B5EF4-FFF2-40B4-BE49-F238E27FC236}">
                <a16:creationId xmlns:a16="http://schemas.microsoft.com/office/drawing/2014/main" id="{08DE9E79-EB72-8AA9-9372-5CDAECF658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464" y="265602"/>
            <a:ext cx="3218768" cy="3218768"/>
          </a:xfrm>
          <a:prstGeom prst="rect">
            <a:avLst/>
          </a:prstGeom>
        </p:spPr>
      </p:pic>
    </p:spTree>
    <p:extLst>
      <p:ext uri="{BB962C8B-B14F-4D97-AF65-F5344CB8AC3E}">
        <p14:creationId xmlns:p14="http://schemas.microsoft.com/office/powerpoint/2010/main" val="7510956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91E0F2-FE77-51ED-3F72-223B58926E74}"/>
              </a:ext>
            </a:extLst>
          </p:cNvPr>
          <p:cNvSpPr>
            <a:spLocks noGrp="1"/>
          </p:cNvSpPr>
          <p:nvPr>
            <p:ph type="title"/>
          </p:nvPr>
        </p:nvSpPr>
        <p:spPr>
          <a:xfrm>
            <a:off x="838200" y="365125"/>
            <a:ext cx="10747786" cy="1325563"/>
          </a:xfrm>
        </p:spPr>
        <p:txBody>
          <a:bodyPr>
            <a:normAutofit/>
          </a:bodyPr>
          <a:lstStyle/>
          <a:p>
            <a:r>
              <a:rPr lang="en-US" sz="4400" noProof="0" dirty="0"/>
              <a:t>What is Automagical Documentation?</a:t>
            </a:r>
          </a:p>
        </p:txBody>
      </p:sp>
      <p:sp>
        <p:nvSpPr>
          <p:cNvPr id="3" name="Espace réservé du contenu 2">
            <a:extLst>
              <a:ext uri="{FF2B5EF4-FFF2-40B4-BE49-F238E27FC236}">
                <a16:creationId xmlns:a16="http://schemas.microsoft.com/office/drawing/2014/main" id="{07D5023A-BA6F-B725-CF78-FD889E577EA6}"/>
              </a:ext>
            </a:extLst>
          </p:cNvPr>
          <p:cNvSpPr>
            <a:spLocks noGrp="1"/>
          </p:cNvSpPr>
          <p:nvPr>
            <p:ph idx="1"/>
          </p:nvPr>
        </p:nvSpPr>
        <p:spPr>
          <a:xfrm>
            <a:off x="838200" y="1462772"/>
            <a:ext cx="10515600" cy="4351338"/>
          </a:xfrm>
        </p:spPr>
        <p:txBody>
          <a:bodyPr>
            <a:normAutofit/>
          </a:bodyPr>
          <a:lstStyle/>
          <a:p>
            <a:pPr>
              <a:buFont typeface="Wingdings" panose="05000000000000000000" pitchFamily="2" charset="2"/>
              <a:buChar char="§"/>
            </a:pPr>
            <a:r>
              <a:rPr lang="en-US" sz="2400" noProof="0" dirty="0"/>
              <a:t>Documentation that automatically generates from your code</a:t>
            </a:r>
          </a:p>
          <a:p>
            <a:pPr>
              <a:buFont typeface="Wingdings" panose="05000000000000000000" pitchFamily="2" charset="2"/>
              <a:buChar char="§"/>
            </a:pPr>
            <a:r>
              <a:rPr lang="en-US" sz="2400" noProof="0" dirty="0"/>
              <a:t>Interactive examples that work</a:t>
            </a:r>
          </a:p>
          <a:p>
            <a:pPr>
              <a:buFont typeface="Wingdings" panose="05000000000000000000" pitchFamily="2" charset="2"/>
              <a:buChar char="§"/>
            </a:pPr>
            <a:r>
              <a:rPr lang="en-US" sz="2400" dirty="0"/>
              <a:t>Generated from existing comment-based help</a:t>
            </a:r>
          </a:p>
        </p:txBody>
      </p:sp>
      <p:pic>
        <p:nvPicPr>
          <p:cNvPr id="11" name="Picture 10">
            <a:extLst>
              <a:ext uri="{FF2B5EF4-FFF2-40B4-BE49-F238E27FC236}">
                <a16:creationId xmlns:a16="http://schemas.microsoft.com/office/drawing/2014/main" id="{3F6E7D91-166C-E11B-6954-B25192BA434D}"/>
              </a:ext>
            </a:extLst>
          </p:cNvPr>
          <p:cNvPicPr>
            <a:picLocks noChangeAspect="1"/>
          </p:cNvPicPr>
          <p:nvPr/>
        </p:nvPicPr>
        <p:blipFill>
          <a:blip r:embed="rId3"/>
          <a:stretch>
            <a:fillRect/>
          </a:stretch>
        </p:blipFill>
        <p:spPr>
          <a:xfrm>
            <a:off x="790081" y="2945393"/>
            <a:ext cx="10611837" cy="3240255"/>
          </a:xfrm>
          <a:prstGeom prst="rect">
            <a:avLst/>
          </a:prstGeom>
        </p:spPr>
      </p:pic>
    </p:spTree>
    <p:extLst>
      <p:ext uri="{BB962C8B-B14F-4D97-AF65-F5344CB8AC3E}">
        <p14:creationId xmlns:p14="http://schemas.microsoft.com/office/powerpoint/2010/main" val="11013615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46DB9-8619-B9A0-4040-DCEC27CA717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A946849-F6E2-B349-996F-F53F7B3E8821}"/>
              </a:ext>
            </a:extLst>
          </p:cNvPr>
          <p:cNvSpPr>
            <a:spLocks noGrp="1"/>
          </p:cNvSpPr>
          <p:nvPr>
            <p:ph type="title"/>
          </p:nvPr>
        </p:nvSpPr>
        <p:spPr/>
        <p:txBody>
          <a:bodyPr>
            <a:normAutofit/>
          </a:bodyPr>
          <a:lstStyle/>
          <a:p>
            <a:r>
              <a:rPr lang="en-US" sz="4400" noProof="0" dirty="0"/>
              <a:t>PwshSpectreConsole Help</a:t>
            </a:r>
          </a:p>
        </p:txBody>
      </p:sp>
      <p:pic>
        <p:nvPicPr>
          <p:cNvPr id="1026" name="Picture 2" descr="image">
            <a:hlinkClick r:id="rId3"/>
            <a:extLst>
              <a:ext uri="{FF2B5EF4-FFF2-40B4-BE49-F238E27FC236}">
                <a16:creationId xmlns:a16="http://schemas.microsoft.com/office/drawing/2014/main" id="{DB55ECFC-045B-AEEF-6128-80DED95B40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7615" y="1690688"/>
            <a:ext cx="8516769" cy="42583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70512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357FF-6BD7-7C26-4473-812B87FE5D9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A702170-5512-B480-DFD3-E82AF9579503}"/>
              </a:ext>
            </a:extLst>
          </p:cNvPr>
          <p:cNvSpPr>
            <a:spLocks noGrp="1"/>
          </p:cNvSpPr>
          <p:nvPr>
            <p:ph type="title"/>
          </p:nvPr>
        </p:nvSpPr>
        <p:spPr/>
        <p:txBody>
          <a:bodyPr>
            <a:normAutofit/>
          </a:bodyPr>
          <a:lstStyle/>
          <a:p>
            <a:r>
              <a:rPr lang="en-US" sz="4400" dirty="0"/>
              <a:t>PwshSpectreConsole Help Generation</a:t>
            </a:r>
            <a:endParaRPr lang="en-US" sz="4400" noProof="0" dirty="0"/>
          </a:p>
        </p:txBody>
      </p:sp>
      <p:sp>
        <p:nvSpPr>
          <p:cNvPr id="3" name="Espace réservé du contenu 2">
            <a:extLst>
              <a:ext uri="{FF2B5EF4-FFF2-40B4-BE49-F238E27FC236}">
                <a16:creationId xmlns:a16="http://schemas.microsoft.com/office/drawing/2014/main" id="{A5057CCE-92CF-9C73-7813-C35FC044E023}"/>
              </a:ext>
            </a:extLst>
          </p:cNvPr>
          <p:cNvSpPr>
            <a:spLocks noGrp="1"/>
          </p:cNvSpPr>
          <p:nvPr>
            <p:ph idx="1"/>
          </p:nvPr>
        </p:nvSpPr>
        <p:spPr>
          <a:xfrm>
            <a:off x="838200" y="1462772"/>
            <a:ext cx="10515600" cy="4351338"/>
          </a:xfrm>
        </p:spPr>
        <p:txBody>
          <a:bodyPr>
            <a:normAutofit/>
          </a:bodyPr>
          <a:lstStyle/>
          <a:p>
            <a:pPr>
              <a:buFont typeface="Wingdings" panose="05000000000000000000" pitchFamily="2" charset="2"/>
              <a:buChar char="§"/>
            </a:pPr>
            <a:r>
              <a:rPr lang="en-US" sz="2800" noProof="0" dirty="0"/>
              <a:t>UpdateDocs.ps1</a:t>
            </a:r>
            <a:br>
              <a:rPr lang="en-US" sz="2800" noProof="0" dirty="0"/>
            </a:br>
            <a:endParaRPr lang="en-US" sz="2800" noProof="0" dirty="0"/>
          </a:p>
          <a:p>
            <a:pPr lvl="1"/>
            <a:r>
              <a:rPr lang="en-US" sz="2800" noProof="0" dirty="0"/>
              <a:t>Generate</a:t>
            </a:r>
            <a:r>
              <a:rPr lang="en-US" sz="2800" dirty="0"/>
              <a:t> example recordings</a:t>
            </a:r>
          </a:p>
          <a:p>
            <a:pPr lvl="1"/>
            <a:r>
              <a:rPr lang="en-US" sz="2800" dirty="0"/>
              <a:t>Dump Comment Based Help to Markdown</a:t>
            </a:r>
          </a:p>
          <a:p>
            <a:pPr lvl="1"/>
            <a:r>
              <a:rPr lang="en-US" sz="2800" noProof="0" dirty="0"/>
              <a:t>Replace the </a:t>
            </a:r>
            <a:r>
              <a:rPr lang="en-US" sz="2800" dirty="0"/>
              <a:t>examples in Markdown with recordings</a:t>
            </a:r>
          </a:p>
          <a:p>
            <a:pPr lvl="1"/>
            <a:r>
              <a:rPr lang="en-US" sz="2800" dirty="0"/>
              <a:t>Update Markdown for Astro</a:t>
            </a:r>
          </a:p>
          <a:p>
            <a:pPr lvl="1"/>
            <a:r>
              <a:rPr lang="en-US" sz="2800" noProof="0" dirty="0"/>
              <a:t>Copy Markdown to correct location for Astro</a:t>
            </a:r>
          </a:p>
          <a:p>
            <a:pPr lvl="1"/>
            <a:r>
              <a:rPr lang="en-US" sz="2800" noProof="0" dirty="0"/>
              <a:t>Run the Astro website</a:t>
            </a:r>
          </a:p>
          <a:p>
            <a:pPr lvl="1"/>
            <a:r>
              <a:rPr lang="en-US" sz="2800" dirty="0"/>
              <a:t>Deploy the Astro website</a:t>
            </a:r>
            <a:endParaRPr lang="en-US" noProof="0" dirty="0"/>
          </a:p>
        </p:txBody>
      </p:sp>
    </p:spTree>
    <p:extLst>
      <p:ext uri="{BB962C8B-B14F-4D97-AF65-F5344CB8AC3E}">
        <p14:creationId xmlns:p14="http://schemas.microsoft.com/office/powerpoint/2010/main" val="5354571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6522E-52F8-0253-D79C-AD7DDF21C5E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58C1A7F-15B5-573E-0DB3-31A0C456C85C}"/>
              </a:ext>
            </a:extLst>
          </p:cNvPr>
          <p:cNvSpPr>
            <a:spLocks noGrp="1"/>
          </p:cNvSpPr>
          <p:nvPr>
            <p:ph type="title"/>
          </p:nvPr>
        </p:nvSpPr>
        <p:spPr/>
        <p:txBody>
          <a:bodyPr>
            <a:normAutofit/>
          </a:bodyPr>
          <a:lstStyle/>
          <a:p>
            <a:r>
              <a:rPr lang="en-US" sz="4400" dirty="0"/>
              <a:t>Dump Help to Markdown</a:t>
            </a:r>
            <a:endParaRPr lang="en-US" sz="4400" noProof="0" dirty="0"/>
          </a:p>
        </p:txBody>
      </p:sp>
      <p:sp>
        <p:nvSpPr>
          <p:cNvPr id="3" name="Espace réservé du contenu 2">
            <a:extLst>
              <a:ext uri="{FF2B5EF4-FFF2-40B4-BE49-F238E27FC236}">
                <a16:creationId xmlns:a16="http://schemas.microsoft.com/office/drawing/2014/main" id="{9F664761-7212-54E7-2D8A-7F21663E0EA9}"/>
              </a:ext>
            </a:extLst>
          </p:cNvPr>
          <p:cNvSpPr>
            <a:spLocks noGrp="1"/>
          </p:cNvSpPr>
          <p:nvPr>
            <p:ph idx="1"/>
          </p:nvPr>
        </p:nvSpPr>
        <p:spPr>
          <a:xfrm>
            <a:off x="838200" y="1462772"/>
            <a:ext cx="10515600" cy="4351338"/>
          </a:xfrm>
        </p:spPr>
        <p:txBody>
          <a:bodyPr/>
          <a:lstStyle/>
          <a:p>
            <a:pPr>
              <a:buFont typeface="Wingdings" panose="05000000000000000000" pitchFamily="2" charset="2"/>
              <a:buChar char="§"/>
            </a:pPr>
            <a:r>
              <a:rPr lang="en-US" sz="2800" noProof="0" dirty="0"/>
              <a:t>Microsoft.PowerShell.PlatyPS</a:t>
            </a:r>
          </a:p>
          <a:p>
            <a:pPr lvl="1"/>
            <a:r>
              <a:rPr lang="en-US" sz="2400" noProof="0" dirty="0"/>
              <a:t>Creates an object model of the help file that you can manipulate in memory</a:t>
            </a:r>
          </a:p>
          <a:p>
            <a:pPr lvl="1"/>
            <a:r>
              <a:rPr lang="en-US" sz="2400" dirty="0"/>
              <a:t>Allows configuration of metadata (frontmatter)</a:t>
            </a:r>
          </a:p>
        </p:txBody>
      </p:sp>
      <p:sp>
        <p:nvSpPr>
          <p:cNvPr id="5" name="TextBox 4">
            <a:extLst>
              <a:ext uri="{FF2B5EF4-FFF2-40B4-BE49-F238E27FC236}">
                <a16:creationId xmlns:a16="http://schemas.microsoft.com/office/drawing/2014/main" id="{5C02D506-A4CC-DACE-6415-404FEBE6D0E6}"/>
              </a:ext>
            </a:extLst>
          </p:cNvPr>
          <p:cNvSpPr txBox="1"/>
          <p:nvPr/>
        </p:nvSpPr>
        <p:spPr>
          <a:xfrm>
            <a:off x="1454973" y="90558"/>
            <a:ext cx="10737027" cy="6494085"/>
          </a:xfrm>
          <a:prstGeom prst="rect">
            <a:avLst/>
          </a:prstGeom>
          <a:solidFill>
            <a:schemeClr val="tx1"/>
          </a:solidFill>
        </p:spPr>
        <p:txBody>
          <a:bodyPr wrap="square">
            <a:spAutoFit/>
          </a:bodyPr>
          <a:lstStyle/>
          <a:p>
            <a:pPr marL="0" lvl="1">
              <a:buNone/>
            </a:pPr>
            <a:r>
              <a:rPr lang="en-US" sz="1600" dirty="0">
                <a:solidFill>
                  <a:schemeClr val="bg1"/>
                </a:solidFill>
                <a:latin typeface="Aptos Mono" panose="020F0502020204030204" pitchFamily="49" charset="0"/>
              </a:rPr>
              <a:t>$moduleInfo = Get-Module PwshSpectreConsole</a:t>
            </a:r>
          </a:p>
          <a:p>
            <a:pPr marL="0" lvl="1">
              <a:buNone/>
            </a:pPr>
            <a:endParaRPr lang="en-US" sz="1600" noProof="0" dirty="0">
              <a:solidFill>
                <a:schemeClr val="bg1"/>
              </a:solidFill>
              <a:latin typeface="Aptos Mono" panose="020F0502020204030204" pitchFamily="49" charset="0"/>
            </a:endParaRPr>
          </a:p>
          <a:p>
            <a:pPr marL="0" lvl="1">
              <a:buNone/>
            </a:pPr>
            <a:r>
              <a:rPr lang="en-US" sz="1600" dirty="0">
                <a:solidFill>
                  <a:schemeClr val="bg1"/>
                </a:solidFill>
                <a:latin typeface="Aptos Mono" panose="020F0502020204030204" pitchFamily="49" charset="0"/>
              </a:rPr>
              <a:t>New-MarkdownCommandHelp -ModuleInfo $moduleInfo -OutputFolder test -Force -Metadata @{</a:t>
            </a:r>
          </a:p>
          <a:p>
            <a:pPr marL="0" lvl="1">
              <a:buNone/>
            </a:pPr>
            <a:r>
              <a:rPr lang="en-US" sz="1600" dirty="0">
                <a:solidFill>
                  <a:schemeClr val="bg1"/>
                </a:solidFill>
                <a:latin typeface="Aptos Mono" panose="020F0502020204030204" pitchFamily="49" charset="0"/>
              </a:rPr>
              <a:t>  sidebar = @{</a:t>
            </a:r>
          </a:p>
          <a:p>
            <a:pPr marL="0" lvl="1">
              <a:buNone/>
            </a:pPr>
            <a:r>
              <a:rPr lang="en-US" sz="1600" dirty="0">
                <a:solidFill>
                  <a:schemeClr val="bg1"/>
                </a:solidFill>
                <a:latin typeface="Aptos Mono" panose="020F0502020204030204" pitchFamily="49" charset="0"/>
              </a:rPr>
              <a:t>    badge = @{</a:t>
            </a:r>
          </a:p>
          <a:p>
            <a:pPr marL="0" lvl="1">
              <a:buNone/>
            </a:pPr>
            <a:r>
              <a:rPr lang="en-US" sz="1600" dirty="0">
                <a:solidFill>
                  <a:schemeClr val="bg1"/>
                </a:solidFill>
                <a:latin typeface="Aptos Mono" panose="020F0502020204030204" pitchFamily="49" charset="0"/>
              </a:rPr>
              <a:t>      text = "New“</a:t>
            </a:r>
          </a:p>
          <a:p>
            <a:pPr marL="0" lvl="1">
              <a:buNone/>
            </a:pPr>
            <a:r>
              <a:rPr lang="en-US" sz="1600" dirty="0">
                <a:solidFill>
                  <a:schemeClr val="bg1"/>
                </a:solidFill>
                <a:latin typeface="Aptos Mono" panose="020F0502020204030204" pitchFamily="49" charset="0"/>
              </a:rPr>
              <a:t>      variant = "tip“</a:t>
            </a:r>
          </a:p>
          <a:p>
            <a:pPr marL="0" lvl="1">
              <a:buNone/>
            </a:pPr>
            <a:r>
              <a:rPr lang="en-US" sz="1600" dirty="0">
                <a:solidFill>
                  <a:schemeClr val="bg1"/>
                </a:solidFill>
                <a:latin typeface="Aptos Mono" panose="020F0502020204030204" pitchFamily="49" charset="0"/>
              </a:rPr>
              <a:t>    }</a:t>
            </a:r>
          </a:p>
          <a:p>
            <a:pPr marL="0" lvl="1">
              <a:buNone/>
            </a:pPr>
            <a:r>
              <a:rPr lang="en-US" sz="1600" dirty="0">
                <a:solidFill>
                  <a:schemeClr val="bg1"/>
                </a:solidFill>
                <a:latin typeface="Aptos Mono" panose="020F0502020204030204" pitchFamily="49" charset="0"/>
              </a:rPr>
              <a:t>  }</a:t>
            </a:r>
          </a:p>
          <a:p>
            <a:pPr marL="0" lvl="1">
              <a:buNone/>
            </a:pPr>
            <a:r>
              <a:rPr lang="en-US" sz="1600" dirty="0">
                <a:solidFill>
                  <a:schemeClr val="bg1"/>
                </a:solidFill>
                <a:latin typeface="Aptos Mono" panose="020F0502020204030204" pitchFamily="49" charset="0"/>
              </a:rPr>
              <a:t>}</a:t>
            </a:r>
          </a:p>
          <a:p>
            <a:pPr marL="0" lvl="1">
              <a:buNone/>
            </a:pPr>
            <a:endParaRPr lang="en-US" sz="1600" noProof="0" dirty="0">
              <a:solidFill>
                <a:schemeClr val="bg1"/>
              </a:solidFill>
              <a:latin typeface="Aptos Mono" panose="020F0502020204030204" pitchFamily="49" charset="0"/>
            </a:endParaRPr>
          </a:p>
          <a:p>
            <a:pPr marL="0" lvl="1">
              <a:buNone/>
            </a:pPr>
            <a:r>
              <a:rPr lang="en-US" sz="1600" dirty="0">
                <a:solidFill>
                  <a:schemeClr val="bg1"/>
                </a:solidFill>
                <a:latin typeface="Aptos Mono" panose="020F0502020204030204" pitchFamily="49" charset="0"/>
              </a:rPr>
              <a:t>$c -replace '(?ms)## SYNOPSIS.+?^## ', '## ' `    -replace '(?ms)## INPUTS.+?^## ', '## ' `    -replace '(?ms)## OUTPUTS.+?^## ', '## ' `    -replace '(?ms)## NOTES.+?^## ', '## ' `    -replace '(?ms)## RELATED LINKS.+', '' `    -replace '(?ms)## SYNTAX.+?^## ', '## ' `    -replace '(?ms)## ALIASES.+?^## ', '## ‘</a:t>
            </a:r>
          </a:p>
          <a:p>
            <a:pPr marL="0" lvl="1">
              <a:buNone/>
            </a:pPr>
            <a:endParaRPr lang="en-US" sz="1600" noProof="0" dirty="0">
              <a:solidFill>
                <a:schemeClr val="bg1"/>
              </a:solidFill>
              <a:latin typeface="Aptos Mono" panose="020F0502020204030204" pitchFamily="49" charset="0"/>
            </a:endParaRPr>
          </a:p>
          <a:p>
            <a:pPr marL="0" lvl="1">
              <a:buNone/>
            </a:pPr>
            <a:r>
              <a:rPr lang="en-US" sz="1600" dirty="0">
                <a:solidFill>
                  <a:schemeClr val="bg1"/>
                </a:solidFill>
                <a:latin typeface="Aptos Mono" panose="020F0502020204030204" pitchFamily="49" charset="0"/>
              </a:rPr>
              <a:t>$</a:t>
            </a:r>
            <a:r>
              <a:rPr lang="en-US" sz="1600" dirty="0" err="1">
                <a:solidFill>
                  <a:schemeClr val="bg1"/>
                </a:solidFill>
                <a:latin typeface="Aptos Mono" panose="020F0502020204030204" pitchFamily="49" charset="0"/>
              </a:rPr>
              <a:t>formattedExamples</a:t>
            </a:r>
            <a:r>
              <a:rPr lang="en-US" sz="1600" dirty="0">
                <a:solidFill>
                  <a:schemeClr val="bg1"/>
                </a:solidFill>
                <a:latin typeface="Aptos Mono" panose="020F0502020204030204" pitchFamily="49" charset="0"/>
              </a:rPr>
              <a:t> = $</a:t>
            </a:r>
            <a:r>
              <a:rPr lang="en-US" sz="1600" dirty="0" err="1">
                <a:solidFill>
                  <a:schemeClr val="bg1"/>
                </a:solidFill>
                <a:latin typeface="Aptos Mono" panose="020F0502020204030204" pitchFamily="49" charset="0"/>
              </a:rPr>
              <a:t>commandHelp.Examples</a:t>
            </a:r>
            <a:r>
              <a:rPr lang="en-US" sz="1600" dirty="0">
                <a:solidFill>
                  <a:schemeClr val="bg1"/>
                </a:solidFill>
                <a:latin typeface="Aptos Mono" panose="020F0502020204030204" pitchFamily="49" charset="0"/>
              </a:rPr>
              <a:t> | </a:t>
            </a:r>
            <a:r>
              <a:rPr lang="en-US" sz="1600" dirty="0" err="1">
                <a:solidFill>
                  <a:schemeClr val="bg1"/>
                </a:solidFill>
                <a:latin typeface="Aptos Mono" panose="020F0502020204030204" pitchFamily="49" charset="0"/>
              </a:rPr>
              <a:t>ForEach</a:t>
            </a:r>
            <a:r>
              <a:rPr lang="en-US" sz="1600" dirty="0">
                <a:solidFill>
                  <a:schemeClr val="bg1"/>
                </a:solidFill>
                <a:latin typeface="Aptos Mono" panose="020F0502020204030204" pitchFamily="49" charset="0"/>
              </a:rPr>
              <a:t>-Object {  $_.Remarks = "``````</a:t>
            </a:r>
            <a:r>
              <a:rPr lang="en-US" sz="1600" dirty="0" err="1">
                <a:solidFill>
                  <a:schemeClr val="bg1"/>
                </a:solidFill>
                <a:latin typeface="Aptos Mono" panose="020F0502020204030204" pitchFamily="49" charset="0"/>
              </a:rPr>
              <a:t>pwsh`n</a:t>
            </a:r>
            <a:r>
              <a:rPr lang="en-US" sz="1600" dirty="0">
                <a:solidFill>
                  <a:schemeClr val="bg1"/>
                </a:solidFill>
                <a:latin typeface="Aptos Mono" panose="020F0502020204030204" pitchFamily="49" charset="0"/>
              </a:rPr>
              <a:t>" + $_.Remarks + "`n``````"}</a:t>
            </a:r>
          </a:p>
          <a:p>
            <a:pPr marL="0" lvl="1">
              <a:buNone/>
            </a:pPr>
            <a:endParaRPr lang="en-US" sz="1600" noProof="0" dirty="0">
              <a:solidFill>
                <a:schemeClr val="bg1"/>
              </a:solidFill>
              <a:latin typeface="Aptos Mono" panose="020F0502020204030204" pitchFamily="49" charset="0"/>
            </a:endParaRPr>
          </a:p>
          <a:p>
            <a:pPr marL="0" lvl="1">
              <a:buNone/>
            </a:pPr>
            <a:r>
              <a:rPr lang="en-US" sz="1600" dirty="0">
                <a:solidFill>
                  <a:schemeClr val="bg1"/>
                </a:solidFill>
                <a:latin typeface="Aptos Mono" panose="020F0502020204030204" pitchFamily="49" charset="0"/>
              </a:rPr>
              <a:t>Export-MarkdownCommandHelp -</a:t>
            </a:r>
            <a:r>
              <a:rPr lang="en-US" sz="1600" dirty="0" err="1">
                <a:solidFill>
                  <a:schemeClr val="bg1"/>
                </a:solidFill>
                <a:latin typeface="Aptos Mono" panose="020F0502020204030204" pitchFamily="49" charset="0"/>
              </a:rPr>
              <a:t>CommandHelp</a:t>
            </a:r>
            <a:r>
              <a:rPr lang="en-US" sz="1600" dirty="0">
                <a:solidFill>
                  <a:schemeClr val="bg1"/>
                </a:solidFill>
                <a:latin typeface="Aptos Mono" panose="020F0502020204030204" pitchFamily="49" charset="0"/>
              </a:rPr>
              <a:t> $</a:t>
            </a:r>
            <a:r>
              <a:rPr lang="en-US" sz="1600" dirty="0" err="1">
                <a:solidFill>
                  <a:schemeClr val="bg1"/>
                </a:solidFill>
                <a:latin typeface="Aptos Mono" panose="020F0502020204030204" pitchFamily="49" charset="0"/>
              </a:rPr>
              <a:t>commandHelp</a:t>
            </a:r>
            <a:r>
              <a:rPr lang="en-US" sz="1600" dirty="0">
                <a:solidFill>
                  <a:schemeClr val="bg1"/>
                </a:solidFill>
                <a:latin typeface="Aptos Mono" panose="020F0502020204030204" pitchFamily="49" charset="0"/>
              </a:rPr>
              <a:t> -OutputFolder .\</a:t>
            </a:r>
            <a:r>
              <a:rPr lang="en-US" sz="1600" dirty="0" err="1">
                <a:solidFill>
                  <a:schemeClr val="bg1"/>
                </a:solidFill>
                <a:latin typeface="Aptos Mono" panose="020F0502020204030204" pitchFamily="49" charset="0"/>
              </a:rPr>
              <a:t>psconfeu</a:t>
            </a:r>
            <a:r>
              <a:rPr lang="en-US" sz="1600" dirty="0">
                <a:solidFill>
                  <a:schemeClr val="bg1"/>
                </a:solidFill>
                <a:latin typeface="Aptos Mono" panose="020F0502020204030204" pitchFamily="49" charset="0"/>
              </a:rPr>
              <a:t>\automagical-documentation\test\tapes\shit\site\</a:t>
            </a:r>
            <a:r>
              <a:rPr lang="en-US" sz="1600" dirty="0" err="1">
                <a:solidFill>
                  <a:schemeClr val="bg1"/>
                </a:solidFill>
                <a:latin typeface="Aptos Mono" panose="020F0502020204030204" pitchFamily="49" charset="0"/>
              </a:rPr>
              <a:t>src</a:t>
            </a:r>
            <a:r>
              <a:rPr lang="en-US" sz="1600" dirty="0">
                <a:solidFill>
                  <a:schemeClr val="bg1"/>
                </a:solidFill>
                <a:latin typeface="Aptos Mono" panose="020F0502020204030204" pitchFamily="49" charset="0"/>
              </a:rPr>
              <a:t>\content\docs\reference –Force</a:t>
            </a:r>
          </a:p>
          <a:p>
            <a:pPr marL="0" lvl="1">
              <a:buNone/>
            </a:pPr>
            <a:endParaRPr lang="en-US" sz="1600" noProof="0" dirty="0">
              <a:solidFill>
                <a:schemeClr val="bg1"/>
              </a:solidFill>
              <a:latin typeface="Aptos Mono" panose="020F0502020204030204" pitchFamily="49" charset="0"/>
            </a:endParaRPr>
          </a:p>
          <a:p>
            <a:pPr marL="0" lvl="1">
              <a:buNone/>
            </a:pPr>
            <a:r>
              <a:rPr lang="en-US" sz="1600" dirty="0">
                <a:solidFill>
                  <a:schemeClr val="bg1"/>
                </a:solidFill>
                <a:latin typeface="Aptos Mono" panose="020F0502020204030204" pitchFamily="49" charset="0"/>
              </a:rPr>
              <a:t>$c = Get-Content .\psconfeu\automagical-documentation\test\tapes\shit\site\src\content\docs\reference\PwshSpectreConsole\Format-SpectrePanel.md -Raw</a:t>
            </a:r>
            <a:endParaRPr lang="en-US" sz="1600" noProof="0" dirty="0">
              <a:solidFill>
                <a:schemeClr val="bg1"/>
              </a:solidFill>
              <a:latin typeface="Aptos Mono" panose="020F0502020204030204" pitchFamily="49" charset="0"/>
            </a:endParaRPr>
          </a:p>
        </p:txBody>
      </p:sp>
    </p:spTree>
    <p:extLst>
      <p:ext uri="{BB962C8B-B14F-4D97-AF65-F5344CB8AC3E}">
        <p14:creationId xmlns:p14="http://schemas.microsoft.com/office/powerpoint/2010/main" val="12953528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A8CC6-1584-69A4-5AED-35254DFE4E8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B353ED2-566A-A1BF-EE41-48E9CA77D8BD}"/>
              </a:ext>
            </a:extLst>
          </p:cNvPr>
          <p:cNvSpPr>
            <a:spLocks noGrp="1"/>
          </p:cNvSpPr>
          <p:nvPr>
            <p:ph type="title"/>
          </p:nvPr>
        </p:nvSpPr>
        <p:spPr/>
        <p:txBody>
          <a:bodyPr>
            <a:normAutofit/>
          </a:bodyPr>
          <a:lstStyle/>
          <a:p>
            <a:r>
              <a:rPr lang="en-US" sz="4400" noProof="0" dirty="0"/>
              <a:t>Generate Example Recordings</a:t>
            </a:r>
          </a:p>
        </p:txBody>
      </p:sp>
      <p:sp>
        <p:nvSpPr>
          <p:cNvPr id="3" name="Espace réservé du contenu 2">
            <a:extLst>
              <a:ext uri="{FF2B5EF4-FFF2-40B4-BE49-F238E27FC236}">
                <a16:creationId xmlns:a16="http://schemas.microsoft.com/office/drawing/2014/main" id="{2DF0ACDC-170D-8F99-DD37-BB55C95E425D}"/>
              </a:ext>
            </a:extLst>
          </p:cNvPr>
          <p:cNvSpPr>
            <a:spLocks noGrp="1"/>
          </p:cNvSpPr>
          <p:nvPr>
            <p:ph idx="1"/>
          </p:nvPr>
        </p:nvSpPr>
        <p:spPr>
          <a:xfrm>
            <a:off x="838200" y="1462772"/>
            <a:ext cx="10515600" cy="4351338"/>
          </a:xfrm>
        </p:spPr>
        <p:txBody>
          <a:bodyPr/>
          <a:lstStyle/>
          <a:p>
            <a:pPr>
              <a:buFont typeface="Wingdings" panose="05000000000000000000" pitchFamily="2" charset="2"/>
              <a:buChar char="§"/>
            </a:pPr>
            <a:r>
              <a:rPr lang="en-US" sz="2800" noProof="0" dirty="0"/>
              <a:t>Charmbracelet.VHS</a:t>
            </a:r>
          </a:p>
          <a:p>
            <a:pPr lvl="1"/>
            <a:r>
              <a:rPr lang="en-US" sz="2400" noProof="0" dirty="0"/>
              <a:t>Records a terminal session via a “tape” file</a:t>
            </a:r>
          </a:p>
          <a:p>
            <a:pPr lvl="1"/>
            <a:r>
              <a:rPr lang="en-US" sz="2400" dirty="0"/>
              <a:t>Convert example comments e.g. </a:t>
            </a:r>
            <a:endParaRPr lang="en-US" sz="2400" noProof="0" dirty="0"/>
          </a:p>
        </p:txBody>
      </p:sp>
      <p:sp>
        <p:nvSpPr>
          <p:cNvPr id="5" name="TextBox 4">
            <a:extLst>
              <a:ext uri="{FF2B5EF4-FFF2-40B4-BE49-F238E27FC236}">
                <a16:creationId xmlns:a16="http://schemas.microsoft.com/office/drawing/2014/main" id="{FE83ADBD-3F6C-1879-2B03-C8D8331D837E}"/>
              </a:ext>
            </a:extLst>
          </p:cNvPr>
          <p:cNvSpPr txBox="1"/>
          <p:nvPr/>
        </p:nvSpPr>
        <p:spPr>
          <a:xfrm>
            <a:off x="838200" y="3059668"/>
            <a:ext cx="10737027" cy="338554"/>
          </a:xfrm>
          <a:prstGeom prst="rect">
            <a:avLst/>
          </a:prstGeom>
          <a:solidFill>
            <a:schemeClr val="tx1"/>
          </a:solidFill>
        </p:spPr>
        <p:txBody>
          <a:bodyPr wrap="square">
            <a:spAutoFit/>
          </a:bodyPr>
          <a:lstStyle/>
          <a:p>
            <a:pPr marL="0" lvl="1">
              <a:buNone/>
            </a:pPr>
            <a:r>
              <a:rPr lang="en-US" sz="1600" dirty="0">
                <a:solidFill>
                  <a:schemeClr val="bg1"/>
                </a:solidFill>
                <a:latin typeface="Aptos Mono" panose="020F0502020204030204" pitchFamily="49" charset="0"/>
              </a:rPr>
              <a:t>docker run --rm -v .:/</a:t>
            </a:r>
            <a:r>
              <a:rPr lang="en-US" sz="1600" dirty="0" err="1">
                <a:solidFill>
                  <a:schemeClr val="bg1"/>
                </a:solidFill>
                <a:latin typeface="Aptos Mono" panose="020F0502020204030204" pitchFamily="49" charset="0"/>
              </a:rPr>
              <a:t>vhs</a:t>
            </a:r>
            <a:r>
              <a:rPr lang="en-US" sz="1600" dirty="0">
                <a:solidFill>
                  <a:schemeClr val="bg1"/>
                </a:solidFill>
                <a:latin typeface="Aptos Mono" panose="020F0502020204030204" pitchFamily="49" charset="0"/>
              </a:rPr>
              <a:t> </a:t>
            </a:r>
            <a:r>
              <a:rPr lang="en-US" sz="1600" dirty="0" err="1">
                <a:solidFill>
                  <a:schemeClr val="bg1"/>
                </a:solidFill>
                <a:latin typeface="Aptos Mono" panose="020F0502020204030204" pitchFamily="49" charset="0"/>
              </a:rPr>
              <a:t>vhs-pwsh</a:t>
            </a:r>
            <a:r>
              <a:rPr lang="en-US" sz="1600" dirty="0">
                <a:solidFill>
                  <a:schemeClr val="bg1"/>
                </a:solidFill>
                <a:latin typeface="Aptos Mono" panose="020F0502020204030204" pitchFamily="49" charset="0"/>
              </a:rPr>
              <a:t> </a:t>
            </a:r>
            <a:r>
              <a:rPr lang="en-US" sz="1600" dirty="0" err="1">
                <a:solidFill>
                  <a:schemeClr val="bg1"/>
                </a:solidFill>
                <a:latin typeface="Aptos Mono" panose="020F0502020204030204" pitchFamily="49" charset="0"/>
              </a:rPr>
              <a:t>image.tape</a:t>
            </a:r>
            <a:endParaRPr lang="en-US" sz="1600" noProof="0" dirty="0">
              <a:solidFill>
                <a:schemeClr val="bg1"/>
              </a:solidFill>
              <a:latin typeface="Aptos Mono" panose="020F0502020204030204" pitchFamily="49" charset="0"/>
            </a:endParaRPr>
          </a:p>
        </p:txBody>
      </p:sp>
    </p:spTree>
    <p:extLst>
      <p:ext uri="{BB962C8B-B14F-4D97-AF65-F5344CB8AC3E}">
        <p14:creationId xmlns:p14="http://schemas.microsoft.com/office/powerpoint/2010/main" val="39178136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B167248-C99C-E892-89E1-4CBB81F02F90}"/>
              </a:ext>
            </a:extLst>
          </p:cNvPr>
          <p:cNvSpPr>
            <a:spLocks noGrp="1"/>
          </p:cNvSpPr>
          <p:nvPr>
            <p:ph type="title"/>
          </p:nvPr>
        </p:nvSpPr>
        <p:spPr>
          <a:xfrm>
            <a:off x="831850" y="529389"/>
            <a:ext cx="10515600" cy="1004637"/>
          </a:xfrm>
        </p:spPr>
        <p:txBody>
          <a:bodyPr/>
          <a:lstStyle/>
          <a:p>
            <a:r>
              <a:rPr lang="en-US" noProof="0" dirty="0"/>
              <a:t>Demos</a:t>
            </a:r>
          </a:p>
        </p:txBody>
      </p:sp>
      <p:sp>
        <p:nvSpPr>
          <p:cNvPr id="5" name="Text Placeholder 4">
            <a:extLst>
              <a:ext uri="{FF2B5EF4-FFF2-40B4-BE49-F238E27FC236}">
                <a16:creationId xmlns:a16="http://schemas.microsoft.com/office/drawing/2014/main" id="{2CACAFC7-78CB-98F9-FEF3-D3E8C9FF6E6F}"/>
              </a:ext>
            </a:extLst>
          </p:cNvPr>
          <p:cNvSpPr>
            <a:spLocks noGrp="1"/>
          </p:cNvSpPr>
          <p:nvPr>
            <p:ph type="body" idx="1"/>
          </p:nvPr>
        </p:nvSpPr>
        <p:spPr>
          <a:xfrm>
            <a:off x="831850" y="1653758"/>
            <a:ext cx="10515600" cy="1500187"/>
          </a:xfrm>
        </p:spPr>
        <p:txBody>
          <a:bodyPr/>
          <a:lstStyle/>
          <a:p>
            <a:r>
              <a:rPr lang="en-US" noProof="0" dirty="0"/>
              <a:t>We love Demos!</a:t>
            </a:r>
          </a:p>
        </p:txBody>
      </p:sp>
      <p:pic>
        <p:nvPicPr>
          <p:cNvPr id="9" name="Picture 9">
            <a:extLst>
              <a:ext uri="{FF2B5EF4-FFF2-40B4-BE49-F238E27FC236}">
                <a16:creationId xmlns:a16="http://schemas.microsoft.com/office/drawing/2014/main" id="{776AC288-703A-8014-23CA-E040CDD7E976}"/>
              </a:ext>
            </a:extLst>
          </p:cNvPr>
          <p:cNvPicPr>
            <a:picLocks noChangeAspect="1"/>
          </p:cNvPicPr>
          <p:nvPr/>
        </p:nvPicPr>
        <p:blipFill>
          <a:blip r:embed="rId2"/>
          <a:stretch>
            <a:fillRect/>
          </a:stretch>
        </p:blipFill>
        <p:spPr>
          <a:xfrm>
            <a:off x="3404191" y="615392"/>
            <a:ext cx="6127897" cy="506014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172594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space réservé du contenu 2">
            <a:extLst>
              <a:ext uri="{FF2B5EF4-FFF2-40B4-BE49-F238E27FC236}">
                <a16:creationId xmlns:a16="http://schemas.microsoft.com/office/drawing/2014/main" id="{F7C3D7A3-288F-C5EC-1A3B-3F23CCB04450}"/>
              </a:ext>
            </a:extLst>
          </p:cNvPr>
          <p:cNvSpPr txBox="1">
            <a:spLocks/>
          </p:cNvSpPr>
          <p:nvPr/>
        </p:nvSpPr>
        <p:spPr>
          <a:xfrm>
            <a:off x="830943" y="1665967"/>
            <a:ext cx="10515600" cy="4351338"/>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Wingdings" panose="05000000000000000000" pitchFamily="2" charset="2"/>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Wingdings" panose="05000000000000000000" pitchFamily="2" charset="2"/>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Wingdings" panose="05000000000000000000" pitchFamily="2" charset="2"/>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Wingdings" panose="05000000000000000000" pitchFamily="2" charset="2"/>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Wingdings" panose="05000000000000000000" pitchFamily="2" charset="2"/>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a:buFont typeface="Wingdings" panose="05000000000000000000" pitchFamily="2" charset="2"/>
              <a:buChar char="§"/>
            </a:pPr>
            <a:r>
              <a:rPr lang="en-US" dirty="0">
                <a:solidFill>
                  <a:schemeClr val="tx1"/>
                </a:solidFill>
              </a:rPr>
              <a:t>Hopefully, we don’t need these…</a:t>
            </a:r>
          </a:p>
          <a:p>
            <a:pPr>
              <a:buFont typeface="Wingdings" panose="05000000000000000000" pitchFamily="2" charset="2"/>
              <a:buChar char="§"/>
            </a:pPr>
            <a:r>
              <a:rPr lang="en-US" dirty="0">
                <a:solidFill>
                  <a:schemeClr val="tx1"/>
                </a:solidFill>
              </a:rPr>
              <a:t>Problem: I have a module I want online documentation for.</a:t>
            </a:r>
          </a:p>
          <a:p>
            <a:pPr>
              <a:buFont typeface="Wingdings" panose="05000000000000000000" pitchFamily="2" charset="2"/>
              <a:buChar char="§"/>
            </a:pPr>
            <a:endParaRPr lang="en-US" dirty="0">
              <a:solidFill>
                <a:schemeClr val="tx1"/>
              </a:solidFill>
            </a:endParaRPr>
          </a:p>
        </p:txBody>
      </p:sp>
      <p:sp>
        <p:nvSpPr>
          <p:cNvPr id="11" name="Titre 1">
            <a:extLst>
              <a:ext uri="{FF2B5EF4-FFF2-40B4-BE49-F238E27FC236}">
                <a16:creationId xmlns:a16="http://schemas.microsoft.com/office/drawing/2014/main" id="{C3132357-56AF-A8C8-AB98-83E4EF81AF6B}"/>
              </a:ext>
            </a:extLst>
          </p:cNvPr>
          <p:cNvSpPr>
            <a:spLocks noGrp="1"/>
          </p:cNvSpPr>
          <p:nvPr>
            <p:ph type="title"/>
          </p:nvPr>
        </p:nvSpPr>
        <p:spPr>
          <a:xfrm>
            <a:off x="838200" y="365125"/>
            <a:ext cx="9733280" cy="1325563"/>
          </a:xfrm>
        </p:spPr>
        <p:txBody>
          <a:bodyPr/>
          <a:lstStyle/>
          <a:p>
            <a:r>
              <a:rPr lang="en-US" noProof="0" dirty="0"/>
              <a:t>Automagical Documentation</a:t>
            </a:r>
          </a:p>
        </p:txBody>
      </p:sp>
    </p:spTree>
    <p:extLst>
      <p:ext uri="{BB962C8B-B14F-4D97-AF65-F5344CB8AC3E}">
        <p14:creationId xmlns:p14="http://schemas.microsoft.com/office/powerpoint/2010/main" val="16099938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3">
            <a:extLst>
              <a:ext uri="{FF2B5EF4-FFF2-40B4-BE49-F238E27FC236}">
                <a16:creationId xmlns:a16="http://schemas.microsoft.com/office/drawing/2014/main" id="{063F7B61-5334-421F-9456-A905D333F4B3}"/>
              </a:ext>
            </a:extLst>
          </p:cNvPr>
          <p:cNvSpPr txBox="1">
            <a:spLocks/>
          </p:cNvSpPr>
          <p:nvPr/>
        </p:nvSpPr>
        <p:spPr>
          <a:xfrm>
            <a:off x="831850" y="529389"/>
            <a:ext cx="10515600" cy="100463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6000" b="1" kern="1200">
                <a:solidFill>
                  <a:srgbClr val="3B2B46"/>
                </a:solidFill>
                <a:latin typeface="+mj-lt"/>
                <a:ea typeface="+mj-ea"/>
                <a:cs typeface="+mj-cs"/>
              </a:defRPr>
            </a:lvl1pPr>
          </a:lstStyle>
          <a:p>
            <a:r>
              <a:rPr lang="en-US" noProof="0" dirty="0"/>
              <a:t>Q&amp;A</a:t>
            </a:r>
          </a:p>
        </p:txBody>
      </p:sp>
      <p:sp>
        <p:nvSpPr>
          <p:cNvPr id="10" name="Text Placeholder 4">
            <a:extLst>
              <a:ext uri="{FF2B5EF4-FFF2-40B4-BE49-F238E27FC236}">
                <a16:creationId xmlns:a16="http://schemas.microsoft.com/office/drawing/2014/main" id="{E7911686-C4FE-022C-2490-99F4F5BFDF39}"/>
              </a:ext>
            </a:extLst>
          </p:cNvPr>
          <p:cNvSpPr txBox="1">
            <a:spLocks/>
          </p:cNvSpPr>
          <p:nvPr/>
        </p:nvSpPr>
        <p:spPr>
          <a:xfrm>
            <a:off x="831850" y="1653758"/>
            <a:ext cx="10515600" cy="150018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400" kern="1200">
                <a:solidFill>
                  <a:schemeClr val="tx1">
                    <a:tint val="75000"/>
                  </a:schemeClr>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noProof="0" dirty="0"/>
              <a:t>15 minutes</a:t>
            </a:r>
          </a:p>
        </p:txBody>
      </p:sp>
      <p:pic>
        <p:nvPicPr>
          <p:cNvPr id="2" name="Picture 2">
            <a:extLst>
              <a:ext uri="{FF2B5EF4-FFF2-40B4-BE49-F238E27FC236}">
                <a16:creationId xmlns:a16="http://schemas.microsoft.com/office/drawing/2014/main" id="{04697E65-3DA9-6EF3-472C-734FB98C3839}"/>
              </a:ext>
            </a:extLst>
          </p:cNvPr>
          <p:cNvPicPr>
            <a:picLocks noChangeAspect="1"/>
          </p:cNvPicPr>
          <p:nvPr/>
        </p:nvPicPr>
        <p:blipFill>
          <a:blip r:embed="rId2"/>
          <a:stretch>
            <a:fillRect/>
          </a:stretch>
        </p:blipFill>
        <p:spPr>
          <a:xfrm>
            <a:off x="2731477" y="1770873"/>
            <a:ext cx="6729046" cy="359174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434842826"/>
      </p:ext>
    </p:extLst>
  </p:cSld>
  <p:clrMapOvr>
    <a:masterClrMapping/>
  </p:clrMapOvr>
</p:sld>
</file>

<file path=ppt/theme/theme1.xml><?xml version="1.0" encoding="utf-8"?>
<a:theme xmlns:a="http://schemas.openxmlformats.org/drawingml/2006/main" name="Titl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lank">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Speaker's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ontent">
  <a:themeElements>
    <a:clrScheme name="PSConfEU">
      <a:dk1>
        <a:sysClr val="windowText" lastClr="000000"/>
      </a:dk1>
      <a:lt1>
        <a:sysClr val="window" lastClr="FFFFFF"/>
      </a:lt1>
      <a:dk2>
        <a:srgbClr val="44546A"/>
      </a:dk2>
      <a:lt2>
        <a:srgbClr val="E7E6E6"/>
      </a:lt2>
      <a:accent1>
        <a:srgbClr val="326198"/>
      </a:accent1>
      <a:accent2>
        <a:srgbClr val="ED7D31"/>
      </a:accent2>
      <a:accent3>
        <a:srgbClr val="A5A5A5"/>
      </a:accent3>
      <a:accent4>
        <a:srgbClr val="FFC000"/>
      </a:accent4>
      <a:accent5>
        <a:srgbClr val="5B9BD5"/>
      </a:accent5>
      <a:accent6>
        <a:srgbClr val="70AD47"/>
      </a:accent6>
      <a:hlink>
        <a:srgbClr val="0563C1"/>
      </a:hlink>
      <a:folHlink>
        <a:srgbClr val="0563C1"/>
      </a:folHlink>
    </a:clrScheme>
    <a:fontScheme name="PSConfEU202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58c243a5-121d-4837-b81c-114e1b569ece">
      <Terms xmlns="http://schemas.microsoft.com/office/infopath/2007/PartnerControls"/>
    </lcf76f155ced4ddcb4097134ff3c332f>
    <TaxCatchAll xmlns="77f18391-c91f-4725-9130-63caf76c1806"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910B4CA76F661498C662C4D69800553" ma:contentTypeVersion="13" ma:contentTypeDescription="Create a new document." ma:contentTypeScope="" ma:versionID="8e04fcd09f7a7dfd06ff4a6ceabf43dc">
  <xsd:schema xmlns:xsd="http://www.w3.org/2001/XMLSchema" xmlns:xs="http://www.w3.org/2001/XMLSchema" xmlns:p="http://schemas.microsoft.com/office/2006/metadata/properties" xmlns:ns2="58c243a5-121d-4837-b81c-114e1b569ece" xmlns:ns3="77f18391-c91f-4725-9130-63caf76c1806" targetNamespace="http://schemas.microsoft.com/office/2006/metadata/properties" ma:root="true" ma:fieldsID="665b7cb087352da028993c4fb985284c" ns2:_="" ns3:_="">
    <xsd:import namespace="58c243a5-121d-4837-b81c-114e1b569ece"/>
    <xsd:import namespace="77f18391-c91f-4725-9130-63caf76c180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8c243a5-121d-4837-b81c-114e1b569e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bd613703-4b30-4a23-b3bf-9e58a81c4af7"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7f18391-c91f-4725-9130-63caf76c180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308bfb8-9000-4349-8794-c2de05f0bbcb}" ma:internalName="TaxCatchAll" ma:showField="CatchAllData" ma:web="77f18391-c91f-4725-9130-63caf76c180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A9C06E3-346E-408E-B352-32E922A070CE}">
  <ds:schemaRefs>
    <ds:schemaRef ds:uri="http://schemas.microsoft.com/office/2006/metadata/properties"/>
    <ds:schemaRef ds:uri="http://schemas.microsoft.com/office/infopath/2007/PartnerControls"/>
    <ds:schemaRef ds:uri="2347cc20-e10c-452d-848a-c18e83138525"/>
    <ds:schemaRef ds:uri="85c0ce47-fe9c-4809-bf88-519c39a738e6"/>
    <ds:schemaRef ds:uri="58c243a5-121d-4837-b81c-114e1b569ece"/>
    <ds:schemaRef ds:uri="77f18391-c91f-4725-9130-63caf76c1806"/>
  </ds:schemaRefs>
</ds:datastoreItem>
</file>

<file path=customXml/itemProps2.xml><?xml version="1.0" encoding="utf-8"?>
<ds:datastoreItem xmlns:ds="http://schemas.openxmlformats.org/officeDocument/2006/customXml" ds:itemID="{57D9B22B-F436-4FE5-B6C0-65AB2260F593}">
  <ds:schemaRefs>
    <ds:schemaRef ds:uri="http://schemas.microsoft.com/sharepoint/v3/contenttype/forms"/>
  </ds:schemaRefs>
</ds:datastoreItem>
</file>

<file path=customXml/itemProps3.xml><?xml version="1.0" encoding="utf-8"?>
<ds:datastoreItem xmlns:ds="http://schemas.openxmlformats.org/officeDocument/2006/customXml" ds:itemID="{79243F5F-D51B-403B-A401-EA162F27622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8c243a5-121d-4837-b81c-114e1b569ece"/>
    <ds:schemaRef ds:uri="77f18391-c91f-4725-9130-63caf76c180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1156</Words>
  <Application>Microsoft Office PowerPoint</Application>
  <PresentationFormat>Widescreen</PresentationFormat>
  <Paragraphs>124</Paragraphs>
  <Slides>16</Slides>
  <Notes>11</Notes>
  <HiddenSlides>1</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16</vt:i4>
      </vt:variant>
    </vt:vector>
  </HeadingPairs>
  <TitlesOfParts>
    <vt:vector size="28" baseType="lpstr">
      <vt:lpstr>Aptos</vt:lpstr>
      <vt:lpstr>Aptos Mono</vt:lpstr>
      <vt:lpstr>Arial</vt:lpstr>
      <vt:lpstr>Calibri</vt:lpstr>
      <vt:lpstr>Segoe UI</vt:lpstr>
      <vt:lpstr>Segoe UI Light</vt:lpstr>
      <vt:lpstr>Stencil</vt:lpstr>
      <vt:lpstr>Wingdings</vt:lpstr>
      <vt:lpstr>Title</vt:lpstr>
      <vt:lpstr>Blank</vt:lpstr>
      <vt:lpstr>Speaker's slide</vt:lpstr>
      <vt:lpstr>Content</vt:lpstr>
      <vt:lpstr>README</vt:lpstr>
      <vt:lpstr>Next Up:</vt:lpstr>
      <vt:lpstr>3</vt:lpstr>
      <vt:lpstr>2</vt:lpstr>
      <vt:lpstr>1</vt:lpstr>
      <vt:lpstr>Automagical Web Documentation for PowerShell Modules</vt:lpstr>
      <vt:lpstr>Many thanks to our sponsors:</vt:lpstr>
      <vt:lpstr>Shaun Lawrie</vt:lpstr>
      <vt:lpstr>What is Automagical Documentation?</vt:lpstr>
      <vt:lpstr>PwshSpectreConsole Help</vt:lpstr>
      <vt:lpstr>PwshSpectreConsole Help Generation</vt:lpstr>
      <vt:lpstr>Dump Help to Markdown</vt:lpstr>
      <vt:lpstr>Generate Example Recordings</vt:lpstr>
      <vt:lpstr>Demos</vt:lpstr>
      <vt:lpstr>Automagical Documentation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2024-03-26T13:08:23Z</dcterms:created>
  <dcterms:modified xsi:type="dcterms:W3CDTF">2025-06-08T15:04:23Z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0x0101006910B4CA76F661498C662C4D69800553</vt:lpwstr>
  </property>
  <property fmtid="{D5CDD505-2E9C-101B-9397-08002B2CF9AE}" pid="3" name="MediaServiceImageTags">
    <vt:lpwstr/>
  </property>
</Properties>
</file>