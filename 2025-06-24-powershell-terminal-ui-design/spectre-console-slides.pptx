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28"/>
  </p:notesMasterIdLst>
  <p:handoutMasterIdLst>
    <p:handoutMasterId r:id="rId29"/>
  </p:handoutMasterIdLst>
  <p:sldIdLst>
    <p:sldId id="272" r:id="rId8"/>
    <p:sldId id="259" r:id="rId9"/>
    <p:sldId id="269" r:id="rId10"/>
    <p:sldId id="270" r:id="rId11"/>
    <p:sldId id="273" r:id="rId12"/>
    <p:sldId id="261" r:id="rId13"/>
    <p:sldId id="267" r:id="rId14"/>
    <p:sldId id="260" r:id="rId15"/>
    <p:sldId id="277" r:id="rId16"/>
    <p:sldId id="275" r:id="rId17"/>
    <p:sldId id="283" r:id="rId18"/>
    <p:sldId id="284" r:id="rId19"/>
    <p:sldId id="285" r:id="rId20"/>
    <p:sldId id="278" r:id="rId21"/>
    <p:sldId id="279" r:id="rId22"/>
    <p:sldId id="280" r:id="rId23"/>
    <p:sldId id="281" r:id="rId24"/>
    <p:sldId id="282" r:id="rId25"/>
    <p:sldId id="264" r:id="rId26"/>
    <p:sldId id="26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61"/>
            <p14:sldId id="267"/>
            <p14:sldId id="260"/>
            <p14:sldId id="277"/>
            <p14:sldId id="275"/>
            <p14:sldId id="283"/>
            <p14:sldId id="284"/>
            <p14:sldId id="285"/>
            <p14:sldId id="278"/>
            <p14:sldId id="279"/>
            <p14:sldId id="280"/>
            <p14:sldId id="281"/>
            <p14:sldId id="282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466E"/>
    <a:srgbClr val="346297"/>
    <a:srgbClr val="000000"/>
    <a:srgbClr val="3B2B46"/>
    <a:srgbClr val="FFFFFF"/>
    <a:srgbClr val="3462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370" autoAdjust="0"/>
  </p:normalViewPr>
  <p:slideViewPr>
    <p:cSldViewPr snapToGrid="0">
      <p:cViewPr varScale="1">
        <p:scale>
          <a:sx n="89" d="100"/>
          <a:sy n="89" d="100"/>
        </p:scale>
        <p:origin x="135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200" d="100"/>
          <a:sy n="200" d="100"/>
        </p:scale>
        <p:origin x="1392" y="14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23/06/2025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23/06/2025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60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954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9DC54-02C0-99D1-4710-3510924A1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001FF12-55E4-7DE7-EBC3-601901DDC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3057D60-EE47-5025-3457-58B1A6563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8960B-E2A2-72FB-14A3-CE1EEE8E3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4743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46504-2DD0-4728-ACC6-8AF69D4F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56B6D02-7B55-7BDD-5101-D7DD38196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92E343-3F39-95B9-3F54-D3C8EE788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2081FB-8516-5ED6-E147-5ECAFF9B2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860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BA837-3CC8-7159-2B71-8BD4A73E7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32C00F9-B584-C319-ED2D-642D7394E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1BFF2B3-B45F-DFC9-E2A1-D0E32FEC2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2D5C39-38CB-5D9C-DDA5-AE7397976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166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DDCA-FF7C-C31E-8C1B-07D3FB37B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82D4CB-BCD2-0DAB-4131-BBB4DBD4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3E87DA-8299-0B1A-FDFE-7A76EE675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D1A0DC-4F6C-1791-6C94-22A4F5996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0545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03219-8B82-DF3C-2B8B-195E9D5E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7051D45-B928-FAD2-5461-8949DA2C73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ED2595-89D2-9DD8-C5DA-F1CA2606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B442F02-7CC5-C756-2034-FAB1E420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1602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7A4C-7B2B-AD99-2378-C3807300F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77BC832-250E-C440-CDBC-139982BC36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4316D01-6A9B-C7ED-BB27-70F72E5B1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19E177-0F16-F436-C95E-5B8C49869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258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B3A51-14ED-E77D-F16E-DD8A0F141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BC7EFF-DD65-0C0A-8D98-A41281478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A5798B-2312-9F82-D3E1-DBCE7E0C3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FC3B676-6577-7180-C1AA-F8D446C471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679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95CC6-A918-E966-B3C3-A3D56D8FF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EF2B804-657A-34E4-7A3C-39313B41D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9906016-7A40-A7BE-FC47-A6C665594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4DC4B7-B598-3AB1-4C88-B58477D18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480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9CD1-4C20-B487-BF9D-9509CB9F7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F326096-CA0B-000A-7687-E732827A0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FD3614-901E-6685-F847-6B3B291B7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8440CA-3FFE-0603-4F36-2854980340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35772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B4EF1-852F-4B2F-ADF3-13B03EB53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A9F4477-064F-70AA-76C7-8BBF2046F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79A3CA9-E213-2DF2-96F6-EAE69DF85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062EB56-C01D-945A-AC22-047F66C40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5007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5" name="Image 4" descr="Une image contenant Police, Graphique, graphisme, capture d’écran&#10;&#10;Description générée automatiquement">
            <a:extLst>
              <a:ext uri="{FF2B5EF4-FFF2-40B4-BE49-F238E27FC236}">
                <a16:creationId xmlns:a16="http://schemas.microsoft.com/office/drawing/2014/main" id="{4BAF5A96-834B-D12C-CB6C-63FE0247752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138849"/>
            <a:ext cx="2720050" cy="528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5" name="Espace réservé du numéro de diapositive 5">
            <a:extLst>
              <a:ext uri="{FF2B5EF4-FFF2-40B4-BE49-F238E27FC236}">
                <a16:creationId xmlns:a16="http://schemas.microsoft.com/office/drawing/2014/main" id="{4C3130C9-6C42-7585-6BD1-4DAF5FC10ABC}"/>
              </a:ext>
            </a:extLst>
          </p:cNvPr>
          <p:cNvSpPr txBox="1">
            <a:spLocks/>
          </p:cNvSpPr>
          <p:nvPr userDrawn="1"/>
        </p:nvSpPr>
        <p:spPr>
          <a:xfrm>
            <a:off x="7001787" y="6335963"/>
            <a:ext cx="2273968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46296"/>
                </a:solidFill>
              </a:rPr>
              <a:t>@shaunlawrie.com</a:t>
            </a:r>
          </a:p>
        </p:txBody>
      </p:sp>
      <p:pic>
        <p:nvPicPr>
          <p:cNvPr id="6" name="Picture 5" descr="A blue butterfly on a black background&#10;&#10;AI-generated content may be incorrect.">
            <a:extLst>
              <a:ext uri="{FF2B5EF4-FFF2-40B4-BE49-F238E27FC236}">
                <a16:creationId xmlns:a16="http://schemas.microsoft.com/office/drawing/2014/main" id="{EA31197B-75A8-AB4D-A97F-B3DB5A5B3A8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653" y="6386880"/>
            <a:ext cx="324542" cy="28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7" y="6335963"/>
            <a:ext cx="2273968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46296"/>
                </a:solidFill>
              </a:rPr>
              <a:t>@shaunlawrie.com</a:t>
            </a: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5" name="Image 4" descr="Une image contenant Police, Graphique, graphisme, capture d’écran&#10;&#10;Description générée automatiquement">
            <a:extLst>
              <a:ext uri="{FF2B5EF4-FFF2-40B4-BE49-F238E27FC236}">
                <a16:creationId xmlns:a16="http://schemas.microsoft.com/office/drawing/2014/main" id="{BEDCEE56-1BA9-8210-7BDF-2455F87929E9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227129"/>
          </a:xfrm>
          <a:prstGeom prst="rect">
            <a:avLst/>
          </a:prstGeom>
        </p:spPr>
      </p:pic>
      <p:pic>
        <p:nvPicPr>
          <p:cNvPr id="6" name="Picture 5" descr="A blue butterfly on a black background&#10;&#10;AI-generated content may be incorrect.">
            <a:extLst>
              <a:ext uri="{FF2B5EF4-FFF2-40B4-BE49-F238E27FC236}">
                <a16:creationId xmlns:a16="http://schemas.microsoft.com/office/drawing/2014/main" id="{1F06EB60-E5C2-CEC2-8609-2181E0F4A307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653" y="6386880"/>
            <a:ext cx="324542" cy="28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1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2.png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Shaun Lawrie</a:t>
            </a: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noProof="0" dirty="0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Next Up:</a:t>
            </a: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3</a:t>
            </a: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 noProof="0" dirty="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 noProof="0" dirty="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 noProof="0" dirty="0">
                <a:latin typeface="Stencil" panose="040409050D0802020404" pitchFamily="82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noProof="0" dirty="0"/>
              <a:t>Shaun Lawrie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noProof="0" dirty="0">
                <a:solidFill>
                  <a:srgbClr val="346296"/>
                </a:solidFill>
                <a:latin typeface="+mn-lt"/>
              </a:rPr>
              <a:t>PowerShell Terminal UI Design with Spectre Console</a:t>
            </a: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531CB4D-40EE-4CEA-4C1F-A86C158A8A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09061" y="630961"/>
            <a:ext cx="9733280" cy="1325563"/>
          </a:xfrm>
        </p:spPr>
        <p:txBody>
          <a:bodyPr/>
          <a:lstStyle/>
          <a:p>
            <a:pPr rtl="0" eaLnBrk="1" latinLnBrk="0" hangingPunct="1"/>
            <a:r>
              <a:rPr lang="en-US" sz="4000" b="1" kern="1200" noProof="0" dirty="0">
                <a:solidFill>
                  <a:srgbClr val="346296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Many thanks to our sponsors:</a:t>
            </a:r>
            <a:endParaRPr lang="en-US" noProof="0" dirty="0"/>
          </a:p>
        </p:txBody>
      </p:sp>
      <p:pic>
        <p:nvPicPr>
          <p:cNvPr id="6" name="Image 5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055FC4D-305C-B66C-BD15-95904A343D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384" y="1830625"/>
            <a:ext cx="7643232" cy="40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835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591607"/>
            <a:ext cx="7817544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46113" indent="-646113">
              <a:buNone/>
            </a:pPr>
            <a:r>
              <a:rPr lang="en-US" noProof="0" dirty="0"/>
              <a:t>🎸 Studied to be a musician…</a:t>
            </a:r>
            <a:br>
              <a:rPr lang="en-US" noProof="0" dirty="0"/>
            </a:br>
            <a:r>
              <a:rPr lang="en-US" noProof="0" dirty="0"/>
              <a:t>Ended up working in Performance Engineering, Testing, Development, Site Reliability and more with some of the largest web platforms in New Zealand over the last 10 years.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noProof="0" dirty="0"/>
              <a:t>🏢 Platform Engineering Lead @ PartsTrader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noProof="0" dirty="0"/>
              <a:t>🌏 Wellington, New Zealand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noProof="0" dirty="0">
                <a:solidFill>
                  <a:srgbClr val="346296"/>
                </a:solidFill>
                <a:latin typeface="+mn-lt"/>
                <a:ea typeface="+mn-ea"/>
                <a:cs typeface="+mn-cs"/>
              </a:rPr>
              <a:t>Shaun Lawrie</a:t>
            </a:r>
          </a:p>
        </p:txBody>
      </p:sp>
      <p:pic>
        <p:nvPicPr>
          <p:cNvPr id="6" name="Picture 5" descr="A person smiling for a picture&#10;&#10;AI-generated content may be incorrect.">
            <a:extLst>
              <a:ext uri="{FF2B5EF4-FFF2-40B4-BE49-F238E27FC236}">
                <a16:creationId xmlns:a16="http://schemas.microsoft.com/office/drawing/2014/main" id="{08DE9E79-EB72-8AA9-9372-5CDAECF65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64" y="265602"/>
            <a:ext cx="3218768" cy="321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91E0F2-FE77-51ED-3F72-223B5892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D5023A-BA6F-B725-CF78-FD889E577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72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800" noProof="0" dirty="0"/>
              <a:t>A .NET library that makes it easier to create beautiful console applications.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8EE717-3AB4-970C-8400-17FB2D179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8" y="2423460"/>
            <a:ext cx="6552136" cy="3433763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380C0F-9CB0-4988-A579-AF1B2A63B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4050" y="2743951"/>
            <a:ext cx="2786041" cy="2786041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7E0B49-D05E-8CEA-4B66-4CAED10221AD}"/>
              </a:ext>
            </a:extLst>
          </p:cNvPr>
          <p:cNvSpPr txBox="1"/>
          <p:nvPr/>
        </p:nvSpPr>
        <p:spPr>
          <a:xfrm>
            <a:off x="8504051" y="5361483"/>
            <a:ext cx="2786041" cy="369332"/>
          </a:xfrm>
          <a:prstGeom prst="rect">
            <a:avLst/>
          </a:prstGeom>
          <a:effectLst>
            <a:outerShdw blurRad="228600" dir="2700000" sx="101000" sy="101000" algn="tl" rotWithShape="0">
              <a:prstClr val="black">
                <a:alpha val="75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i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algn="ctr"/>
            <a:r>
              <a:rPr lang="en-US" dirty="0"/>
              <a:t>github.com/patriksvensson</a:t>
            </a:r>
            <a:endParaRPr lang="en-NZ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72AA7-5B27-4A66-49DD-1786620A95A8}"/>
              </a:ext>
            </a:extLst>
          </p:cNvPr>
          <p:cNvSpPr txBox="1"/>
          <p:nvPr/>
        </p:nvSpPr>
        <p:spPr>
          <a:xfrm>
            <a:off x="3073685" y="5858124"/>
            <a:ext cx="2786041" cy="369332"/>
          </a:xfrm>
          <a:prstGeom prst="rect">
            <a:avLst/>
          </a:prstGeom>
          <a:effectLst>
            <a:outerShdw blurRad="228600" dir="2700000" sx="101000" sy="101000" algn="tl" rotWithShape="0">
              <a:prstClr val="black">
                <a:alpha val="75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i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algn="ctr"/>
            <a:r>
              <a:rPr lang="en-US" dirty="0"/>
              <a:t>spectreconsole.net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10136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2170A-24B0-FE61-845F-41776409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61D0473-C7EE-9994-0FAC-6928D744C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1916204"/>
            <a:ext cx="11861800" cy="440329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F2CB3BC-720E-6003-8EA8-FEC583FB8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DA6DF2A-D5A4-B79E-3378-AF9E1AF04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567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lmage Outputs: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E61D292-6DC5-88AC-54A0-43D8B79A5B41}"/>
              </a:ext>
            </a:extLst>
          </p:cNvPr>
          <p:cNvGrpSpPr/>
          <p:nvPr/>
        </p:nvGrpSpPr>
        <p:grpSpPr>
          <a:xfrm>
            <a:off x="7712846" y="5629174"/>
            <a:ext cx="4269222" cy="600531"/>
            <a:chOff x="6936519" y="5772627"/>
            <a:chExt cx="4269222" cy="60053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6B6B6F1-4EC4-FC37-2178-DAFE2E0654C3}"/>
                </a:ext>
              </a:extLst>
            </p:cNvPr>
            <p:cNvSpPr/>
            <p:nvPr/>
          </p:nvSpPr>
          <p:spPr>
            <a:xfrm>
              <a:off x="6936519" y="5863884"/>
              <a:ext cx="3874916" cy="43101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241300" dir="2700000" sx="101000" sy="101000" algn="tl" rotWithShape="0">
                <a:schemeClr val="accent5">
                  <a:lumMod val="50000"/>
                  <a:alpha val="7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274320" rtlCol="0" anchor="ctr"/>
            <a:lstStyle/>
            <a:p>
              <a:pPr algn="r"/>
              <a:r>
                <a:rPr lang="en-US" dirty="0">
                  <a:solidFill>
                    <a:schemeClr val="tx1"/>
                  </a:solidFill>
                </a:rPr>
                <a:t>github.com/jdhitsolutions/PSPodcast</a:t>
              </a:r>
              <a:endParaRPr lang="en-NZ" dirty="0">
                <a:solidFill>
                  <a:schemeClr val="tx1"/>
                </a:solidFill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E899518-5066-C122-5DC0-6EEC16751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05210" y="5772627"/>
              <a:ext cx="600531" cy="600531"/>
            </a:xfrm>
            <a:prstGeom prst="rect">
              <a:avLst/>
            </a:prstGeom>
            <a:effectLst>
              <a:outerShdw blurRad="241300" dist="25400" dir="2700000" sx="101000" sy="101000" algn="tl" rotWithShape="0">
                <a:schemeClr val="tx1">
                  <a:alpha val="75000"/>
                </a:schemeClr>
              </a:outerShdw>
            </a:effectLst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A0CC5-BBBD-4CC4-0572-4E3A547BB9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80008" y="5625767"/>
            <a:ext cx="603938" cy="60393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11616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8D62-5964-546D-B279-C32249867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98E2DA-920D-CD48-7C6F-EA4928292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63E97C-EAB5-44E5-B136-4361A41CF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Interactive Prompts: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2B56CD-D1FB-A88B-B59C-117BDD295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30" y="2557564"/>
            <a:ext cx="11061300" cy="2999268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7C742A3-3968-04DD-6D0C-CC74CEF46B1D}"/>
              </a:ext>
            </a:extLst>
          </p:cNvPr>
          <p:cNvGrpSpPr/>
          <p:nvPr/>
        </p:nvGrpSpPr>
        <p:grpSpPr>
          <a:xfrm>
            <a:off x="7401264" y="5246758"/>
            <a:ext cx="4503728" cy="600531"/>
            <a:chOff x="6702013" y="5772627"/>
            <a:chExt cx="4503728" cy="60053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B8E3A39-BEED-A12A-5DB3-3A009F2A1108}"/>
                </a:ext>
              </a:extLst>
            </p:cNvPr>
            <p:cNvSpPr/>
            <p:nvPr/>
          </p:nvSpPr>
          <p:spPr>
            <a:xfrm>
              <a:off x="6702013" y="5863884"/>
              <a:ext cx="4109422" cy="43101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241300" dir="2700000" sx="101000" sy="101000" algn="tl" rotWithShape="0">
                <a:schemeClr val="accent5">
                  <a:lumMod val="50000"/>
                  <a:alpha val="7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274320" rtlCol="0" anchor="ctr"/>
            <a:lstStyle/>
            <a:p>
              <a:pPr algn="r"/>
              <a:r>
                <a:rPr lang="en-US" dirty="0">
                  <a:solidFill>
                    <a:schemeClr val="tx1"/>
                  </a:solidFill>
                </a:rPr>
                <a:t>github.com/sassdawe/PwshXDRSpectre</a:t>
              </a:r>
              <a:endParaRPr lang="en-NZ" dirty="0">
                <a:solidFill>
                  <a:schemeClr val="tx1"/>
                </a:solidFill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F575E5D-1B06-75F8-28C0-4A99A6CB4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05210" y="5772627"/>
              <a:ext cx="600531" cy="600531"/>
            </a:xfrm>
            <a:prstGeom prst="rect">
              <a:avLst/>
            </a:prstGeom>
            <a:effectLst>
              <a:outerShdw blurRad="241300" dist="25400" dir="2700000" sx="101000" sy="101000" algn="tl" rotWithShape="0">
                <a:schemeClr val="tx1">
                  <a:alpha val="75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67890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1253D-ED47-EC47-349A-AFDE2613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BFC1DF-1687-44ED-244B-22A9947B5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6E3F26-003B-BF70-4664-A0CD38E29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Visual Widgets: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212221-0F56-F61E-DE6D-138F8BAD9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42" y="2266052"/>
            <a:ext cx="11086057" cy="3501943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98E574-D0B8-35ED-D518-5EF86A1B5870}"/>
              </a:ext>
            </a:extLst>
          </p:cNvPr>
          <p:cNvGrpSpPr/>
          <p:nvPr/>
        </p:nvGrpSpPr>
        <p:grpSpPr>
          <a:xfrm>
            <a:off x="7315200" y="5450629"/>
            <a:ext cx="4619863" cy="600531"/>
            <a:chOff x="6585878" y="5772627"/>
            <a:chExt cx="4619863" cy="60053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A66449D-39F8-E6AE-5602-CAD40DFB4BC8}"/>
                </a:ext>
              </a:extLst>
            </p:cNvPr>
            <p:cNvSpPr/>
            <p:nvPr/>
          </p:nvSpPr>
          <p:spPr>
            <a:xfrm>
              <a:off x="6585878" y="5863884"/>
              <a:ext cx="4225557" cy="43101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241300" dir="2700000" sx="101000" sy="101000" algn="tl" rotWithShape="0">
                <a:schemeClr val="accent5">
                  <a:lumMod val="50000"/>
                  <a:alpha val="7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274320" rtlCol="0" anchor="ctr"/>
            <a:lstStyle/>
            <a:p>
              <a:pPr algn="r"/>
              <a:r>
                <a:rPr lang="en-US" dirty="0">
                  <a:solidFill>
                    <a:schemeClr val="tx1"/>
                  </a:solidFill>
                </a:rPr>
                <a:t>github.com/HeyItsGilbert/PesterExplorer</a:t>
              </a:r>
              <a:endParaRPr lang="en-NZ" dirty="0">
                <a:solidFill>
                  <a:schemeClr val="tx1"/>
                </a:solidFill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370CF41-9345-79AE-556E-C179E00B5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05210" y="5772627"/>
              <a:ext cx="600531" cy="600531"/>
            </a:xfrm>
            <a:prstGeom prst="rect">
              <a:avLst/>
            </a:prstGeom>
            <a:effectLst>
              <a:outerShdw blurRad="241300" dist="25400" dir="2700000" sx="101000" sy="101000" algn="tl" rotWithShape="0">
                <a:schemeClr val="tx1">
                  <a:alpha val="75000"/>
                </a:schemeClr>
              </a:outerShdw>
            </a:effectLst>
          </p:spPr>
        </p:pic>
      </p:grpSp>
      <p:pic>
        <p:nvPicPr>
          <p:cNvPr id="12" name="Picture 2">
            <a:extLst>
              <a:ext uri="{FF2B5EF4-FFF2-40B4-BE49-F238E27FC236}">
                <a16:creationId xmlns:a16="http://schemas.microsoft.com/office/drawing/2014/main" id="{2438737C-76ED-6A50-9456-8B74CEFD8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2109" y="5443828"/>
            <a:ext cx="612954" cy="612954"/>
          </a:xfrm>
          <a:prstGeom prst="rect">
            <a:avLst/>
          </a:prstGeom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9031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FE8DA-EAE0-6622-40B7-ED628A17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857710-89C2-7C13-5C18-3AB3560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01A70D-8712-6067-1B8D-B79AE3015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Complex Layouts: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E9BA63-21B4-336C-00B5-CE3533C67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12" y="2253662"/>
            <a:ext cx="11078128" cy="3499438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3A84203-FB8F-3D6C-4C51-15B3091531F3}"/>
              </a:ext>
            </a:extLst>
          </p:cNvPr>
          <p:cNvGrpSpPr/>
          <p:nvPr/>
        </p:nvGrpSpPr>
        <p:grpSpPr>
          <a:xfrm>
            <a:off x="7315200" y="5450629"/>
            <a:ext cx="4619863" cy="600531"/>
            <a:chOff x="6585878" y="5772627"/>
            <a:chExt cx="4619863" cy="600531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EE3E79-95FC-73C3-6E49-DA26F6631714}"/>
                </a:ext>
              </a:extLst>
            </p:cNvPr>
            <p:cNvSpPr/>
            <p:nvPr/>
          </p:nvSpPr>
          <p:spPr>
            <a:xfrm>
              <a:off x="6585878" y="5863884"/>
              <a:ext cx="4225557" cy="43101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241300" dir="2700000" sx="101000" sy="101000" algn="tl" rotWithShape="0">
                <a:schemeClr val="accent5">
                  <a:lumMod val="50000"/>
                  <a:alpha val="7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274320" rtlCol="0" anchor="ctr"/>
            <a:lstStyle/>
            <a:p>
              <a:pPr algn="r"/>
              <a:r>
                <a:rPr lang="en-US" dirty="0">
                  <a:solidFill>
                    <a:schemeClr val="tx1"/>
                  </a:solidFill>
                </a:rPr>
                <a:t>github.com/HeyItsGilbert/PesterExplorer</a:t>
              </a:r>
              <a:endParaRPr lang="en-NZ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D886EDC-56C1-6C6C-8593-84D9A46A3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05210" y="5772627"/>
              <a:ext cx="600531" cy="600531"/>
            </a:xfrm>
            <a:prstGeom prst="rect">
              <a:avLst/>
            </a:prstGeom>
            <a:effectLst>
              <a:outerShdw blurRad="241300" dist="25400" dir="2700000" sx="101000" sy="101000" algn="tl" rotWithShape="0">
                <a:schemeClr val="tx1">
                  <a:alpha val="75000"/>
                </a:schemeClr>
              </a:outerShdw>
            </a:effectLst>
          </p:spPr>
        </p:pic>
      </p:grpSp>
      <p:pic>
        <p:nvPicPr>
          <p:cNvPr id="15" name="Picture 2">
            <a:extLst>
              <a:ext uri="{FF2B5EF4-FFF2-40B4-BE49-F238E27FC236}">
                <a16:creationId xmlns:a16="http://schemas.microsoft.com/office/drawing/2014/main" id="{992A26DF-9FB4-9237-0DF7-83013EB47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2109" y="5443828"/>
            <a:ext cx="612954" cy="612954"/>
          </a:xfrm>
          <a:prstGeom prst="rect">
            <a:avLst/>
          </a:prstGeom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3197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FB9C-5863-2DA0-4E1C-124774A3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7068BC-48E5-EEF2-6791-2C5293889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11D4C9-6085-B4F8-BCBF-09BAE3550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409660"/>
            <a:ext cx="105156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Interactive TUIs:</a:t>
            </a:r>
          </a:p>
        </p:txBody>
      </p:sp>
      <p:pic>
        <p:nvPicPr>
          <p:cNvPr id="8" name="Modexplorer">
            <a:hlinkClick r:id="" action="ppaction://media"/>
            <a:extLst>
              <a:ext uri="{FF2B5EF4-FFF2-40B4-BE49-F238E27FC236}">
                <a16:creationId xmlns:a16="http://schemas.microsoft.com/office/drawing/2014/main" id="{FD253D9E-1A6F-C177-0543-7E179F97F58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45824" y="1947104"/>
            <a:ext cx="8760473" cy="458784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B362E71-1484-8825-1619-73D0CD6E5919}"/>
              </a:ext>
            </a:extLst>
          </p:cNvPr>
          <p:cNvGrpSpPr/>
          <p:nvPr/>
        </p:nvGrpSpPr>
        <p:grpSpPr>
          <a:xfrm>
            <a:off x="6084007" y="6194061"/>
            <a:ext cx="4619863" cy="600531"/>
            <a:chOff x="6585878" y="5772627"/>
            <a:chExt cx="4619863" cy="600531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352B928-8B2F-93EA-BCC8-C78A7317F52D}"/>
                </a:ext>
              </a:extLst>
            </p:cNvPr>
            <p:cNvSpPr/>
            <p:nvPr/>
          </p:nvSpPr>
          <p:spPr>
            <a:xfrm>
              <a:off x="6585878" y="5863884"/>
              <a:ext cx="4225557" cy="43101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241300" dir="2700000" sx="101000" sy="101000" algn="tl" rotWithShape="0">
                <a:schemeClr val="accent5">
                  <a:lumMod val="50000"/>
                  <a:alpha val="7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274320" rtlCol="0" anchor="ctr"/>
            <a:lstStyle/>
            <a:p>
              <a:pPr algn="r"/>
              <a:r>
                <a:rPr lang="en-US" dirty="0">
                  <a:solidFill>
                    <a:schemeClr val="tx1"/>
                  </a:solidFill>
                </a:rPr>
                <a:t>github.com/DearingDev/ModuleExplorer</a:t>
              </a:r>
              <a:endParaRPr lang="en-NZ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52B43D3-8C72-9A83-F46D-A5BDC33CE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605210" y="5772627"/>
              <a:ext cx="600531" cy="600531"/>
            </a:xfrm>
            <a:prstGeom prst="rect">
              <a:avLst/>
            </a:prstGeom>
            <a:effectLst>
              <a:outerShdw blurRad="241300" dist="25400" dir="2700000" sx="101000" sy="101000" algn="tl" rotWithShape="0">
                <a:schemeClr val="tx1">
                  <a:alpha val="75000"/>
                </a:schemeClr>
              </a:outerShdw>
            </a:effec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9E0F13CD-85DB-CE7F-E8C7-57C63F8391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349" y="6194060"/>
            <a:ext cx="600531" cy="60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209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88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30E01-3D15-FCAB-0358-A59309E0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53AE5-42C6-0C29-F504-ADE1AD38B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 in Pwsh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27581A-2A0A-2758-15F5-D331AE4A7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957" y="1614226"/>
            <a:ext cx="10628086" cy="4452746"/>
          </a:xfrm>
          <a:prstGeom prst="rect">
            <a:avLst/>
          </a:prstGeom>
          <a:effectLst>
            <a:outerShdw blurRad="228600" dir="2700000" sx="101000" sy="101000" algn="tl" rotWithShape="0">
              <a:prstClr val="black">
                <a:alpha val="75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3D5E63-B8B6-DEF8-3FD1-3EAEAA63A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3471" y="4625380"/>
            <a:ext cx="2419688" cy="20195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DFCCAA4-92BF-A7E4-D8AF-32B8282D52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1829" y="4663485"/>
            <a:ext cx="2010056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218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9261C-FFF3-2807-200B-35519539A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02E96-834C-2056-7B7A-CC075FDF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 in Pwsh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7A0137-EBEB-F7A4-B731-A6D6ACBAE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957" y="1614228"/>
            <a:ext cx="10628086" cy="4452746"/>
          </a:xfrm>
          <a:prstGeom prst="rect">
            <a:avLst/>
          </a:prstGeom>
          <a:effectLst>
            <a:outerShdw blurRad="228600" dist="12700" dir="2700000" sx="101000" sy="101000" algn="tl" rotWithShape="0">
              <a:prstClr val="black">
                <a:alpha val="75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191A41-5F44-A12C-1F54-00EEE1DDA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0658" y="4663036"/>
            <a:ext cx="1943371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827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A1C7-7C69-71CF-75F1-46461805B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7D7903-EBBC-54C6-36F7-7B8E04EB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 in Pwsh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85A067-E6F3-3F51-D1C6-A825D7B9F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Goals for PwshSpectreConsole</a:t>
            </a:r>
          </a:p>
          <a:p>
            <a:pPr lvl="1"/>
            <a:r>
              <a:rPr lang="en-US" dirty="0"/>
              <a:t>Quick access to all Spectre Console functionality</a:t>
            </a:r>
          </a:p>
          <a:p>
            <a:pPr lvl="1"/>
            <a:r>
              <a:rPr lang="en-US" dirty="0"/>
              <a:t>Extensive examples and help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542050B-7A40-708A-1950-188C62F77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409" y="3362953"/>
            <a:ext cx="2019582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29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34B9F-4622-275C-CAD8-13DD4A829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351D22-AD5D-2D26-A066-FAD6E9D29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 in Pwsh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F9E7AF-9F45-C49A-F38F-E055C90BF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Quick access to all Spectre Console functionality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A1D4EC-ED8A-8095-201B-A488B704C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136" y="2291960"/>
            <a:ext cx="9475716" cy="324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86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68363-C8BE-9386-1229-0D3AAA585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B57B20-291E-152E-D8FA-CA3B189A3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Spectre Console in Pwsh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05D6ED-47AD-4247-A72C-A1921D33B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943" y="1513570"/>
            <a:ext cx="105156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200" dirty="0"/>
              <a:t>Extensive examples and help at pwshspectreconsole.com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200" dirty="0"/>
          </a:p>
        </p:txBody>
      </p: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5D3F60F5-26FE-ED63-D0D3-4266256F0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8394" y="2200583"/>
            <a:ext cx="7750234" cy="3875117"/>
          </a:xfrm>
          <a:prstGeom prst="rect">
            <a:avLst/>
          </a:prstGeom>
          <a:effectLst>
            <a:outerShdw blurRad="241300" dir="2700000" sx="101000" sy="101000" algn="tl" rotWithShape="0">
              <a:schemeClr val="accent5">
                <a:lumMod val="50000"/>
                <a:alpha val="75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8978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67248-C99C-E892-89E1-4CBB81F02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29389"/>
            <a:ext cx="10515600" cy="1004637"/>
          </a:xfrm>
        </p:spPr>
        <p:txBody>
          <a:bodyPr/>
          <a:lstStyle/>
          <a:p>
            <a:r>
              <a:rPr lang="en-US" noProof="0" dirty="0"/>
              <a:t>Demos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ACAFC7-78CB-98F9-FEF3-D3E8C9FF6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53758"/>
            <a:ext cx="10515600" cy="1500187"/>
          </a:xfrm>
        </p:spPr>
        <p:txBody>
          <a:bodyPr/>
          <a:lstStyle/>
          <a:p>
            <a:r>
              <a:rPr lang="en-US" noProof="0" dirty="0"/>
              <a:t>We love Demos!</a:t>
            </a: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776AC288-703A-8014-23CA-E040CDD7E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191" y="615392"/>
            <a:ext cx="6127897" cy="5060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7259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910B4CA76F661498C662C4D69800553" ma:contentTypeVersion="13" ma:contentTypeDescription="Create a new document." ma:contentTypeScope="" ma:versionID="8e04fcd09f7a7dfd06ff4a6ceabf43dc">
  <xsd:schema xmlns:xsd="http://www.w3.org/2001/XMLSchema" xmlns:xs="http://www.w3.org/2001/XMLSchema" xmlns:p="http://schemas.microsoft.com/office/2006/metadata/properties" xmlns:ns2="58c243a5-121d-4837-b81c-114e1b569ece" xmlns:ns3="77f18391-c91f-4725-9130-63caf76c1806" targetNamespace="http://schemas.microsoft.com/office/2006/metadata/properties" ma:root="true" ma:fieldsID="665b7cb087352da028993c4fb985284c" ns2:_="" ns3:_="">
    <xsd:import namespace="58c243a5-121d-4837-b81c-114e1b569ece"/>
    <xsd:import namespace="77f18391-c91f-4725-9130-63caf76c180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243a5-121d-4837-b81c-114e1b569ec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18391-c91f-4725-9130-63caf76c180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308bfb8-9000-4349-8794-c2de05f0bbcb}" ma:internalName="TaxCatchAll" ma:showField="CatchAllData" ma:web="77f18391-c91f-4725-9130-63caf76c180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8c243a5-121d-4837-b81c-114e1b569ece">
      <Terms xmlns="http://schemas.microsoft.com/office/infopath/2007/PartnerControls"/>
    </lcf76f155ced4ddcb4097134ff3c332f>
    <TaxCatchAll xmlns="77f18391-c91f-4725-9130-63caf76c18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243F5F-D51B-403B-A401-EA162F2762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243a5-121d-4837-b81c-114e1b569ece"/>
    <ds:schemaRef ds:uri="77f18391-c91f-4725-9130-63caf76c18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9C06E3-346E-408E-B352-32E922A070CE}">
  <ds:schemaRefs>
    <ds:schemaRef ds:uri="http://schemas.microsoft.com/office/2006/metadata/properties"/>
    <ds:schemaRef ds:uri="http://schemas.microsoft.com/office/infopath/2007/PartnerControls"/>
    <ds:schemaRef ds:uri="2347cc20-e10c-452d-848a-c18e83138525"/>
    <ds:schemaRef ds:uri="85c0ce47-fe9c-4809-bf88-519c39a738e6"/>
    <ds:schemaRef ds:uri="58c243a5-121d-4837-b81c-114e1b569ece"/>
    <ds:schemaRef ds:uri="77f18391-c91f-4725-9130-63caf76c1806"/>
  </ds:schemaRefs>
</ds:datastoreItem>
</file>

<file path=customXml/itemProps3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</Words>
  <Application>Microsoft Office PowerPoint</Application>
  <PresentationFormat>Widescreen</PresentationFormat>
  <Paragraphs>62</Paragraphs>
  <Slides>20</Slides>
  <Notes>16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Arial</vt:lpstr>
      <vt:lpstr>Calibri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PowerShell Terminal UI Design with Spectre Console</vt:lpstr>
      <vt:lpstr>Many thanks to our sponsors:</vt:lpstr>
      <vt:lpstr>Shaun Lawrie</vt:lpstr>
      <vt:lpstr>Spectre Console</vt:lpstr>
      <vt:lpstr>Spectre Console</vt:lpstr>
      <vt:lpstr>Spectre Console</vt:lpstr>
      <vt:lpstr>Spectre Console</vt:lpstr>
      <vt:lpstr>Spectre Console</vt:lpstr>
      <vt:lpstr>Spectre Console</vt:lpstr>
      <vt:lpstr>Spectre Console in Pwsh</vt:lpstr>
      <vt:lpstr>Spectre Console in Pwsh</vt:lpstr>
      <vt:lpstr>Spectre Console in Pwsh</vt:lpstr>
      <vt:lpstr>Spectre Console in Pwsh</vt:lpstr>
      <vt:lpstr>Spectre Console in Pwsh</vt:lpstr>
      <vt:lpstr>Demos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2024-03-26T13:08:23Z</dcterms:created>
  <dcterms:modified xsi:type="dcterms:W3CDTF">2025-06-23T21:08:14Z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0x0101006910B4CA76F661498C662C4D69800553</vt:lpwstr>
  </property>
  <property fmtid="{D5CDD505-2E9C-101B-9397-08002B2CF9AE}" pid="3" name="MediaServiceImageTags">
    <vt:lpwstr/>
  </property>
</Properties>
</file>