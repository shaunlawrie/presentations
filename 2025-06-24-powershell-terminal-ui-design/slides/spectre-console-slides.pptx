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97" r:id="rId5"/>
    <p:sldMasterId id="2147483695" r:id="rId6"/>
    <p:sldMasterId id="2147483684" r:id="rId7"/>
  </p:sldMasterIdLst>
  <p:notesMasterIdLst>
    <p:notesMasterId r:id="rId30"/>
  </p:notesMasterIdLst>
  <p:handoutMasterIdLst>
    <p:handoutMasterId r:id="rId31"/>
  </p:handoutMasterIdLst>
  <p:sldIdLst>
    <p:sldId id="271" r:id="rId8"/>
    <p:sldId id="272" r:id="rId9"/>
    <p:sldId id="259" r:id="rId10"/>
    <p:sldId id="269" r:id="rId11"/>
    <p:sldId id="270" r:id="rId12"/>
    <p:sldId id="273" r:id="rId13"/>
    <p:sldId id="261" r:id="rId14"/>
    <p:sldId id="267" r:id="rId15"/>
    <p:sldId id="260" r:id="rId16"/>
    <p:sldId id="277" r:id="rId17"/>
    <p:sldId id="275" r:id="rId18"/>
    <p:sldId id="283" r:id="rId19"/>
    <p:sldId id="284" r:id="rId20"/>
    <p:sldId id="285" r:id="rId21"/>
    <p:sldId id="278" r:id="rId22"/>
    <p:sldId id="279" r:id="rId23"/>
    <p:sldId id="280" r:id="rId24"/>
    <p:sldId id="281" r:id="rId25"/>
    <p:sldId id="282" r:id="rId26"/>
    <p:sldId id="264" r:id="rId27"/>
    <p:sldId id="274" r:id="rId28"/>
    <p:sldId id="26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61"/>
            <p14:sldId id="267"/>
            <p14:sldId id="260"/>
            <p14:sldId id="277"/>
            <p14:sldId id="275"/>
            <p14:sldId id="283"/>
            <p14:sldId id="284"/>
            <p14:sldId id="285"/>
            <p14:sldId id="278"/>
            <p14:sldId id="279"/>
            <p14:sldId id="280"/>
            <p14:sldId id="281"/>
            <p14:sldId id="282"/>
            <p14:sldId id="264"/>
            <p14:sldId id="274"/>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466E"/>
    <a:srgbClr val="346297"/>
    <a:srgbClr val="000000"/>
    <a:srgbClr val="3B2B46"/>
    <a:srgbClr val="FFFFFF"/>
    <a:srgbClr val="3462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370" autoAdjust="0"/>
  </p:normalViewPr>
  <p:slideViewPr>
    <p:cSldViewPr snapToGrid="0">
      <p:cViewPr>
        <p:scale>
          <a:sx n="85" d="100"/>
          <a:sy n="85" d="100"/>
        </p:scale>
        <p:origin x="1512" y="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200" d="100"/>
          <a:sy n="200" d="100"/>
        </p:scale>
        <p:origin x="139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08/06/2025</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08/06/2025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7.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7</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9</a:t>
            </a:fld>
            <a:endParaRPr lang="en-GB"/>
          </a:p>
        </p:txBody>
      </p:sp>
    </p:spTree>
    <p:extLst>
      <p:ext uri="{BB962C8B-B14F-4D97-AF65-F5344CB8AC3E}">
        <p14:creationId xmlns:p14="http://schemas.microsoft.com/office/powerpoint/2010/main" val="3390954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9DC54-02C0-99D1-4710-3510924A12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01FF12-55E4-7DE7-EBC3-601901DDC1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057D60-EE47-5025-3457-58B1A656352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058960B-E2A2-72FB-14A3-CE1EEE8E3E9A}"/>
              </a:ext>
            </a:extLst>
          </p:cNvPr>
          <p:cNvSpPr>
            <a:spLocks noGrp="1"/>
          </p:cNvSpPr>
          <p:nvPr>
            <p:ph type="sldNum" sz="quarter" idx="5"/>
          </p:nvPr>
        </p:nvSpPr>
        <p:spPr/>
        <p:txBody>
          <a:bodyPr/>
          <a:lstStyle/>
          <a:p>
            <a:fld id="{A7839206-A81D-4F76-8486-302187992F73}" type="slidenum">
              <a:rPr lang="en-GB" smtClean="0"/>
              <a:t>10</a:t>
            </a:fld>
            <a:endParaRPr lang="en-GB"/>
          </a:p>
        </p:txBody>
      </p:sp>
    </p:spTree>
    <p:extLst>
      <p:ext uri="{BB962C8B-B14F-4D97-AF65-F5344CB8AC3E}">
        <p14:creationId xmlns:p14="http://schemas.microsoft.com/office/powerpoint/2010/main" val="3174743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6504-2DD0-4728-ACC6-8AF69D4F48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6B6D02-7B55-7BDD-5101-D7DD38196D0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E92E343-3F39-95B9-3F54-D3C8EE7887BE}"/>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832081FB-8516-5ED6-E147-5ECAFF9B2F0F}"/>
              </a:ext>
            </a:extLst>
          </p:cNvPr>
          <p:cNvSpPr>
            <a:spLocks noGrp="1"/>
          </p:cNvSpPr>
          <p:nvPr>
            <p:ph type="sldNum" sz="quarter" idx="5"/>
          </p:nvPr>
        </p:nvSpPr>
        <p:spPr/>
        <p:txBody>
          <a:bodyPr/>
          <a:lstStyle/>
          <a:p>
            <a:fld id="{A7839206-A81D-4F76-8486-302187992F73}" type="slidenum">
              <a:rPr lang="en-GB" smtClean="0"/>
              <a:t>11</a:t>
            </a:fld>
            <a:endParaRPr lang="en-GB"/>
          </a:p>
        </p:txBody>
      </p:sp>
    </p:spTree>
    <p:extLst>
      <p:ext uri="{BB962C8B-B14F-4D97-AF65-F5344CB8AC3E}">
        <p14:creationId xmlns:p14="http://schemas.microsoft.com/office/powerpoint/2010/main" val="954860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BA837-3CC8-7159-2B71-8BD4A73E7F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2C00F9-B584-C319-ED2D-642D7394E08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BFF2B3-B45F-DFC9-E2A1-D0E32FEC2FE1}"/>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52D5C39-38CB-5D9C-DDA5-AE73979762B9}"/>
              </a:ext>
            </a:extLst>
          </p:cNvPr>
          <p:cNvSpPr>
            <a:spLocks noGrp="1"/>
          </p:cNvSpPr>
          <p:nvPr>
            <p:ph type="sldNum" sz="quarter" idx="5"/>
          </p:nvPr>
        </p:nvSpPr>
        <p:spPr/>
        <p:txBody>
          <a:bodyPr/>
          <a:lstStyle/>
          <a:p>
            <a:fld id="{A7839206-A81D-4F76-8486-302187992F73}" type="slidenum">
              <a:rPr lang="en-GB" smtClean="0"/>
              <a:t>12</a:t>
            </a:fld>
            <a:endParaRPr lang="en-GB"/>
          </a:p>
        </p:txBody>
      </p:sp>
    </p:spTree>
    <p:extLst>
      <p:ext uri="{BB962C8B-B14F-4D97-AF65-F5344CB8AC3E}">
        <p14:creationId xmlns:p14="http://schemas.microsoft.com/office/powerpoint/2010/main" val="2390166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DDCA-FF7C-C31E-8C1B-07D3FB37B96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82D4CB-BCD2-0DAB-4131-BBB4DBD4172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3E87DA-8299-0B1A-FDFE-7A76EE675FB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8D1A0DC-4F6C-1791-6C94-22A4F5996375}"/>
              </a:ext>
            </a:extLst>
          </p:cNvPr>
          <p:cNvSpPr>
            <a:spLocks noGrp="1"/>
          </p:cNvSpPr>
          <p:nvPr>
            <p:ph type="sldNum" sz="quarter" idx="5"/>
          </p:nvPr>
        </p:nvSpPr>
        <p:spPr/>
        <p:txBody>
          <a:bodyPr/>
          <a:lstStyle/>
          <a:p>
            <a:fld id="{A7839206-A81D-4F76-8486-302187992F73}" type="slidenum">
              <a:rPr lang="en-GB" smtClean="0"/>
              <a:t>13</a:t>
            </a:fld>
            <a:endParaRPr lang="en-GB"/>
          </a:p>
        </p:txBody>
      </p:sp>
    </p:spTree>
    <p:extLst>
      <p:ext uri="{BB962C8B-B14F-4D97-AF65-F5344CB8AC3E}">
        <p14:creationId xmlns:p14="http://schemas.microsoft.com/office/powerpoint/2010/main" val="550545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3219-8B82-DF3C-2B8B-195E9D5EEC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051D45-B928-FAD2-5461-8949DA2C73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ED2595-89D2-9DD8-C5DA-F1CA2606955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2B442F02-7CC5-C756-2034-FAB1E420A5D9}"/>
              </a:ext>
            </a:extLst>
          </p:cNvPr>
          <p:cNvSpPr>
            <a:spLocks noGrp="1"/>
          </p:cNvSpPr>
          <p:nvPr>
            <p:ph type="sldNum" sz="quarter" idx="5"/>
          </p:nvPr>
        </p:nvSpPr>
        <p:spPr/>
        <p:txBody>
          <a:bodyPr/>
          <a:lstStyle/>
          <a:p>
            <a:fld id="{A7839206-A81D-4F76-8486-302187992F73}" type="slidenum">
              <a:rPr lang="en-GB" smtClean="0"/>
              <a:t>14</a:t>
            </a:fld>
            <a:endParaRPr lang="en-GB"/>
          </a:p>
        </p:txBody>
      </p:sp>
    </p:spTree>
    <p:extLst>
      <p:ext uri="{BB962C8B-B14F-4D97-AF65-F5344CB8AC3E}">
        <p14:creationId xmlns:p14="http://schemas.microsoft.com/office/powerpoint/2010/main" val="551602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B7A4C-7B2B-AD99-2378-C3807300F1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7BC832-250E-C440-CDBC-139982BC36D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316D01-6A9B-C7ED-BB27-70F72E5B107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F19E177-0F16-F436-C95E-5B8C49869AE6}"/>
              </a:ext>
            </a:extLst>
          </p:cNvPr>
          <p:cNvSpPr>
            <a:spLocks noGrp="1"/>
          </p:cNvSpPr>
          <p:nvPr>
            <p:ph type="sldNum" sz="quarter" idx="5"/>
          </p:nvPr>
        </p:nvSpPr>
        <p:spPr/>
        <p:txBody>
          <a:bodyPr/>
          <a:lstStyle/>
          <a:p>
            <a:fld id="{A7839206-A81D-4F76-8486-302187992F73}" type="slidenum">
              <a:rPr lang="en-GB" smtClean="0"/>
              <a:t>15</a:t>
            </a:fld>
            <a:endParaRPr lang="en-GB"/>
          </a:p>
        </p:txBody>
      </p:sp>
    </p:spTree>
    <p:extLst>
      <p:ext uri="{BB962C8B-B14F-4D97-AF65-F5344CB8AC3E}">
        <p14:creationId xmlns:p14="http://schemas.microsoft.com/office/powerpoint/2010/main" val="2159258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B3A51-14ED-E77D-F16E-DD8A0F1413B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BC7EFF-DD65-0C0A-8D98-A412814780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A5798B-2312-9F82-D3E1-DBCE7E0C37B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FC3B676-6577-7180-C1AA-F8D446C47171}"/>
              </a:ext>
            </a:extLst>
          </p:cNvPr>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3778679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5CC6-A918-E966-B3C3-A3D56D8FF0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F2B804-657A-34E4-7A3C-39313B41D3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9906016-7A40-A7BE-FC47-A6C665594E24}"/>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24DC4B7-B598-3AB1-4C88-B58477D18E34}"/>
              </a:ext>
            </a:extLst>
          </p:cNvPr>
          <p:cNvSpPr>
            <a:spLocks noGrp="1"/>
          </p:cNvSpPr>
          <p:nvPr>
            <p:ph type="sldNum" sz="quarter" idx="5"/>
          </p:nvPr>
        </p:nvSpPr>
        <p:spPr/>
        <p:txBody>
          <a:bodyPr/>
          <a:lstStyle/>
          <a:p>
            <a:fld id="{A7839206-A81D-4F76-8486-302187992F73}" type="slidenum">
              <a:rPr lang="en-GB" smtClean="0"/>
              <a:t>17</a:t>
            </a:fld>
            <a:endParaRPr lang="en-GB"/>
          </a:p>
        </p:txBody>
      </p:sp>
    </p:spTree>
    <p:extLst>
      <p:ext uri="{BB962C8B-B14F-4D97-AF65-F5344CB8AC3E}">
        <p14:creationId xmlns:p14="http://schemas.microsoft.com/office/powerpoint/2010/main" val="2350480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9CD1-4C20-B487-BF9D-9509CB9F79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326096-CA0B-000A-7687-E732827A0BC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FD3614-901E-6685-F847-6B3B291B70A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078440CA-3FFE-0603-4F36-2854980340AD}"/>
              </a:ext>
            </a:extLst>
          </p:cNvPr>
          <p:cNvSpPr>
            <a:spLocks noGrp="1"/>
          </p:cNvSpPr>
          <p:nvPr>
            <p:ph type="sldNum" sz="quarter" idx="5"/>
          </p:nvPr>
        </p:nvSpPr>
        <p:spPr/>
        <p:txBody>
          <a:bodyPr/>
          <a:lstStyle/>
          <a:p>
            <a:fld id="{A7839206-A81D-4F76-8486-302187992F73}" type="slidenum">
              <a:rPr lang="en-GB" smtClean="0"/>
              <a:t>18</a:t>
            </a:fld>
            <a:endParaRPr lang="en-GB"/>
          </a:p>
        </p:txBody>
      </p:sp>
    </p:spTree>
    <p:extLst>
      <p:ext uri="{BB962C8B-B14F-4D97-AF65-F5344CB8AC3E}">
        <p14:creationId xmlns:p14="http://schemas.microsoft.com/office/powerpoint/2010/main" val="713577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B4EF1-852F-4B2F-ADF3-13B03EB530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9F4477-064F-70AA-76C7-8BBF2046FF8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79A3CA9-E213-2DF2-96F6-EAE69DF85678}"/>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062EB56-C01D-945A-AC22-047F66C404FB}"/>
              </a:ext>
            </a:extLst>
          </p:cNvPr>
          <p:cNvSpPr>
            <a:spLocks noGrp="1"/>
          </p:cNvSpPr>
          <p:nvPr>
            <p:ph type="sldNum" sz="quarter" idx="5"/>
          </p:nvPr>
        </p:nvSpPr>
        <p:spPr/>
        <p:txBody>
          <a:bodyPr/>
          <a:lstStyle/>
          <a:p>
            <a:fld id="{A7839206-A81D-4F76-8486-302187992F73}" type="slidenum">
              <a:rPr lang="en-GB" smtClean="0"/>
              <a:t>19</a:t>
            </a:fld>
            <a:endParaRPr lang="en-GB"/>
          </a:p>
        </p:txBody>
      </p:sp>
    </p:spTree>
    <p:extLst>
      <p:ext uri="{BB962C8B-B14F-4D97-AF65-F5344CB8AC3E}">
        <p14:creationId xmlns:p14="http://schemas.microsoft.com/office/powerpoint/2010/main" val="2975007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2" Type="http://schemas.openxmlformats.org/officeDocument/2006/relationships/slideLayout" Target="../slideLayouts/slideLayout8.xml"/><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5" Type="http://schemas.openxmlformats.org/officeDocument/2006/relationships/image" Target="../media/image3.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4BAF5A96-834B-D12C-CB6C-63FE0247752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138849"/>
            <a:ext cx="2720050" cy="528285"/>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5" name="Espace réservé du numéro de diapositive 5">
            <a:extLst>
              <a:ext uri="{FF2B5EF4-FFF2-40B4-BE49-F238E27FC236}">
                <a16:creationId xmlns:a16="http://schemas.microsoft.com/office/drawing/2014/main" id="{4C3130C9-6C42-7585-6BD1-4DAF5FC10ABC}"/>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6" name="Picture 5" descr="A blue butterfly on a black background&#10;&#10;AI-generated content may be incorrect.">
            <a:extLst>
              <a:ext uri="{FF2B5EF4-FFF2-40B4-BE49-F238E27FC236}">
                <a16:creationId xmlns:a16="http://schemas.microsoft.com/office/drawing/2014/main" id="{EA31197B-75A8-AB4D-A97F-B3DB5A5B3A8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0822738" y="196674"/>
            <a:ext cx="1062038" cy="90487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BEDCEE56-1BA9-8210-7BDF-2455F87929E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99716" y="1147469"/>
            <a:ext cx="1169451" cy="227129"/>
          </a:xfrm>
          <a:prstGeom prst="rect">
            <a:avLst/>
          </a:prstGeom>
        </p:spPr>
      </p:pic>
      <p:pic>
        <p:nvPicPr>
          <p:cNvPr id="6" name="Picture 5" descr="A blue butterfly on a black background&#10;&#10;AI-generated content may be incorrect.">
            <a:extLst>
              <a:ext uri="{FF2B5EF4-FFF2-40B4-BE49-F238E27FC236}">
                <a16:creationId xmlns:a16="http://schemas.microsoft.com/office/drawing/2014/main" id="{1F06EB60-E5C2-CEC2-8609-2181E0F4A30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2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image" Target="../media/image19.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626605"/>
          </a:xfrm>
          <a:prstGeom prst="rect">
            <a:avLst/>
          </a:prstGeom>
          <a:noFill/>
        </p:spPr>
        <p:txBody>
          <a:bodyPr wrap="square" rtlCol="0">
            <a:spAutoFit/>
          </a:bodyPr>
          <a:lstStyle/>
          <a:p>
            <a:pPr>
              <a:lnSpc>
                <a:spcPct val="110000"/>
              </a:lnSpc>
            </a:pPr>
            <a:r>
              <a:rPr lang="en-US" sz="1600" noProof="0" dirty="0"/>
              <a:t>Dear Speaker, we are thrilled and honored to have you with us in Malmö in 2025. Take your time and read this before you prepare your session. </a:t>
            </a:r>
          </a:p>
          <a:p>
            <a:pPr>
              <a:lnSpc>
                <a:spcPct val="110000"/>
              </a:lnSpc>
            </a:pPr>
            <a:endParaRPr lang="en-US" sz="1600" noProof="0" dirty="0"/>
          </a:p>
          <a:p>
            <a:pPr>
              <a:lnSpc>
                <a:spcPct val="110000"/>
              </a:lnSpc>
              <a:spcAft>
                <a:spcPts val="1000"/>
              </a:spcAft>
            </a:pPr>
            <a:r>
              <a:rPr lang="en-US" sz="1600" noProof="0" dirty="0"/>
              <a:t>Since most of you have been with us before, you will already know a lot about </a:t>
            </a:r>
            <a:r>
              <a:rPr lang="en-US" sz="1600" noProof="0" dirty="0" err="1"/>
              <a:t>PSConfEU</a:t>
            </a:r>
            <a:r>
              <a:rPr lang="en-US" sz="1600" noProof="0" dirty="0"/>
              <a:t>. You know that we try to capture all sessions carefully and publish your work on YouTube. </a:t>
            </a:r>
            <a:r>
              <a:rPr lang="en-US" sz="1600" b="1" u="sng" noProof="0" dirty="0"/>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600" noProof="0" dirty="0"/>
              <a:t>Your screen resolution should be</a:t>
            </a:r>
            <a:br>
              <a:rPr lang="en-US" sz="1600" noProof="0" dirty="0"/>
            </a:br>
            <a:r>
              <a:rPr lang="en-US" sz="1600" noProof="0" dirty="0"/>
              <a:t>1920x1080 </a:t>
            </a:r>
            <a:r>
              <a:rPr lang="en-US" sz="1600" noProof="0" dirty="0" err="1"/>
              <a:t>px</a:t>
            </a:r>
            <a:r>
              <a:rPr lang="en-US" sz="1600" noProof="0" dirty="0"/>
              <a:t> (</a:t>
            </a:r>
            <a:r>
              <a:rPr lang="en-US" sz="1600" noProof="0" dirty="0" err="1"/>
              <a:t>FullHD</a:t>
            </a:r>
            <a:r>
              <a:rPr lang="en-US" sz="1600" noProof="0" dirty="0"/>
              <a:t>)</a:t>
            </a:r>
          </a:p>
          <a:p>
            <a:pPr marL="285750" indent="-285750">
              <a:lnSpc>
                <a:spcPct val="110000"/>
              </a:lnSpc>
              <a:buClr>
                <a:srgbClr val="C00000"/>
              </a:buClr>
              <a:buFont typeface="Arial" panose="020B0604020202020204" pitchFamily="34" charset="0"/>
              <a:buChar char="•"/>
            </a:pPr>
            <a:r>
              <a:rPr lang="en-US" sz="1600" noProof="0" dirty="0"/>
              <a:t>You should provide a full size HDMI socket</a:t>
            </a:r>
          </a:p>
          <a:p>
            <a:pPr marL="285750" indent="-285750">
              <a:lnSpc>
                <a:spcPct val="110000"/>
              </a:lnSpc>
              <a:buClr>
                <a:srgbClr val="C00000"/>
              </a:buClr>
              <a:buFont typeface="Arial" panose="020B0604020202020204" pitchFamily="34" charset="0"/>
              <a:buChar char="•"/>
            </a:pPr>
            <a:r>
              <a:rPr lang="en-US" sz="1600" noProof="0" dirty="0"/>
              <a:t>Mirror your screen</a:t>
            </a:r>
          </a:p>
          <a:p>
            <a:pPr marL="285750" indent="-285750">
              <a:lnSpc>
                <a:spcPct val="110000"/>
              </a:lnSpc>
              <a:buClr>
                <a:srgbClr val="C00000"/>
              </a:buClr>
              <a:buFont typeface="Arial" panose="020B0604020202020204" pitchFamily="34" charset="0"/>
              <a:buChar char="•"/>
            </a:pPr>
            <a:r>
              <a:rPr lang="en-US" sz="1600" noProof="0" dirty="0"/>
              <a:t>Disable "Presenter View" in PowerPoint</a:t>
            </a:r>
          </a:p>
          <a:p>
            <a:pPr marL="285750" indent="-285750">
              <a:lnSpc>
                <a:spcPct val="110000"/>
              </a:lnSpc>
              <a:buClr>
                <a:srgbClr val="C00000"/>
              </a:buClr>
              <a:buFont typeface="Arial" panose="020B0604020202020204" pitchFamily="34" charset="0"/>
              <a:buChar char="•"/>
            </a:pPr>
            <a:r>
              <a:rPr lang="en-US" sz="1600" noProof="0" dirty="0"/>
              <a:t>Using MAC or Surface book? </a:t>
            </a:r>
            <a:br>
              <a:rPr lang="en-US" sz="1600" noProof="0" dirty="0"/>
            </a:br>
            <a:r>
              <a:rPr lang="en-US" sz="1600" noProof="0" dirty="0"/>
              <a:t>Be aware of HDCP!</a:t>
            </a:r>
          </a:p>
          <a:p>
            <a:pPr marL="285750" indent="-285750">
              <a:lnSpc>
                <a:spcPct val="110000"/>
              </a:lnSpc>
              <a:buClr>
                <a:srgbClr val="C00000"/>
              </a:buClr>
              <a:buFont typeface="Arial" panose="020B0604020202020204" pitchFamily="34" charset="0"/>
              <a:buChar char="•"/>
            </a:pPr>
            <a:r>
              <a:rPr lang="en-US" sz="1600" noProof="0" dirty="0"/>
              <a:t>Disable the ‘Night Light Mode’</a:t>
            </a:r>
          </a:p>
          <a:p>
            <a:pPr marL="285750" indent="-285750">
              <a:lnSpc>
                <a:spcPct val="110000"/>
              </a:lnSpc>
              <a:buFont typeface="Arial" panose="020B0604020202020204" pitchFamily="34" charset="0"/>
              <a:buChar char="•"/>
            </a:pPr>
            <a:endParaRPr lang="en-US" sz="1600" noProof="0" dirty="0"/>
          </a:p>
          <a:p>
            <a:pPr>
              <a:lnSpc>
                <a:spcPct val="110000"/>
              </a:lnSpc>
            </a:pPr>
            <a:endParaRPr lang="en-US" sz="1600" noProof="0" dirty="0"/>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noProof="0" dirty="0">
                <a:latin typeface="Calibri" panose="020F0502020204030204" pitchFamily="34" charset="0"/>
                <a:ea typeface="Calibri" panose="020F0502020204030204" pitchFamily="34" charset="0"/>
                <a:cs typeface="Calibri" panose="020F0502020204030204" pitchFamily="34" charset="0"/>
              </a:rPr>
              <a:t>BURN AFTER READING</a:t>
            </a: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6000040"/>
          </a:xfrm>
          <a:prstGeom prst="rect">
            <a:avLst/>
          </a:prstGeom>
          <a:noFill/>
        </p:spPr>
        <p:txBody>
          <a:bodyPr wrap="square" rtlCol="0">
            <a:spAutoFit/>
          </a:bodyPr>
          <a:lstStyle/>
          <a:p>
            <a:pPr>
              <a:lnSpc>
                <a:spcPct val="110000"/>
              </a:lnSpc>
              <a:spcAft>
                <a:spcPts val="800"/>
              </a:spcAft>
            </a:pPr>
            <a:r>
              <a:rPr lang="en-US" sz="1600" b="1" noProof="0" dirty="0" err="1">
                <a:highlight>
                  <a:srgbClr val="00FF00"/>
                </a:highlight>
              </a:rPr>
              <a:t>about_SlideDeck</a:t>
            </a:r>
            <a:endParaRPr lang="en-US" sz="1600" b="1" noProof="0" dirty="0">
              <a:highlight>
                <a:srgbClr val="00FF00"/>
              </a:highlight>
            </a:endParaRPr>
          </a:p>
          <a:p>
            <a:pPr>
              <a:lnSpc>
                <a:spcPct val="110000"/>
              </a:lnSpc>
            </a:pPr>
            <a:r>
              <a:rPr lang="en-US" sz="1600" noProof="0" dirty="0"/>
              <a:t>The actual presentation starts with slide 6 ("Session title"). The first five slides have a purely </a:t>
            </a:r>
            <a:r>
              <a:rPr lang="en-US" sz="1600" noProof="0" dirty="0" err="1"/>
              <a:t>organisational</a:t>
            </a:r>
            <a:r>
              <a:rPr lang="en-US" sz="1600" noProof="0" dirty="0"/>
              <a:t> purpose. During the break before your session, you should start the presentation with slide 2 ("Next up"), so that the audience knows that they are in the right room. It's fine if you start chatting with the audience during this break, </a:t>
            </a:r>
            <a:r>
              <a:rPr lang="en-US" sz="1600" b="1" noProof="0" dirty="0"/>
              <a:t>but</a:t>
            </a:r>
            <a:r>
              <a:rPr lang="en-US" sz="1600" noProof="0" dirty="0"/>
              <a:t> </a:t>
            </a:r>
            <a:r>
              <a:rPr lang="en-US" sz="1600" b="1" noProof="0" dirty="0"/>
              <a:t>we need a precise starting point for your presentation </a:t>
            </a:r>
            <a:r>
              <a:rPr lang="en-US" sz="1600" noProof="0" dirty="0"/>
              <a:t>in terms of editing your video. That means: </a:t>
            </a:r>
          </a:p>
          <a:p>
            <a:pPr>
              <a:lnSpc>
                <a:spcPct val="110000"/>
              </a:lnSpc>
            </a:pPr>
            <a:r>
              <a:rPr lang="en-US" sz="1600" noProof="0" dirty="0"/>
              <a:t>The recording of your presentation will start after the countdown. </a:t>
            </a:r>
            <a:r>
              <a:rPr lang="en-US" sz="1600" b="1" noProof="0" dirty="0"/>
              <a:t>Please  (RE)START talking after the countdown</a:t>
            </a:r>
            <a:r>
              <a:rPr lang="en-US" sz="1600" noProof="0" dirty="0"/>
              <a:t>, not during it! Otherwise your recording will start with a half sentence.  </a:t>
            </a:r>
          </a:p>
          <a:p>
            <a:pPr>
              <a:lnSpc>
                <a:spcPct val="110000"/>
              </a:lnSpc>
            </a:pPr>
            <a:r>
              <a:rPr lang="en-US" sz="1600" noProof="0" dirty="0"/>
              <a:t>It is not necessary to explicitly signal to the PA operator, this is your signal! </a:t>
            </a:r>
          </a:p>
          <a:p>
            <a:pPr>
              <a:lnSpc>
                <a:spcPct val="110000"/>
              </a:lnSpc>
            </a:pPr>
            <a:endParaRPr lang="en-US" sz="1600" noProof="0" dirty="0"/>
          </a:p>
          <a:p>
            <a:pPr>
              <a:lnSpc>
                <a:spcPct val="110000"/>
              </a:lnSpc>
            </a:pPr>
            <a:r>
              <a:rPr lang="en-US" sz="1600" noProof="0" dirty="0"/>
              <a:t>Finally, do you have to use this slide deck? </a:t>
            </a:r>
            <a:br>
              <a:rPr lang="en-US" sz="1600" noProof="0" dirty="0"/>
            </a:br>
            <a:r>
              <a:rPr lang="en-US" sz="1600" noProof="0" dirty="0"/>
              <a:t>No, you are free to present the way you like it. But you are asked </a:t>
            </a:r>
            <a:br>
              <a:rPr lang="en-US" sz="1600" noProof="0" dirty="0"/>
            </a:br>
            <a:r>
              <a:rPr lang="en-US" sz="1600" noProof="0" dirty="0"/>
              <a:t>to use the intro slides: countdown, session title, sponsor slide.</a:t>
            </a:r>
            <a:br>
              <a:rPr lang="en-US" sz="1600" noProof="0" dirty="0"/>
            </a:br>
            <a:r>
              <a:rPr lang="en-US" sz="1600" noProof="0" dirty="0"/>
              <a:t>Beyond that, use what is good for the cause – from no slides to sketches from your children, from </a:t>
            </a:r>
            <a:r>
              <a:rPr lang="en-US" sz="1600" noProof="0" dirty="0" err="1"/>
              <a:t>Jupyter</a:t>
            </a:r>
            <a:r>
              <a:rPr lang="en-US" sz="1600" noProof="0" dirty="0"/>
              <a:t> to $</a:t>
            </a:r>
            <a:r>
              <a:rPr lang="en-US" sz="1600" noProof="0" dirty="0" err="1"/>
              <a:t>youNameIt</a:t>
            </a:r>
            <a:r>
              <a:rPr lang="en-US" sz="1600" noProof="0" dirty="0"/>
              <a:t>. </a:t>
            </a:r>
          </a:p>
          <a:p>
            <a:pPr>
              <a:lnSpc>
                <a:spcPct val="110000"/>
              </a:lnSpc>
              <a:spcAft>
                <a:spcPts val="1000"/>
              </a:spcAft>
            </a:pPr>
            <a:r>
              <a:rPr lang="en-US" sz="1600" noProof="0" dirty="0"/>
              <a:t>You will find additional information in the notes below.</a:t>
            </a:r>
          </a:p>
          <a:p>
            <a:pPr>
              <a:lnSpc>
                <a:spcPct val="110000"/>
              </a:lnSpc>
            </a:pPr>
            <a:r>
              <a:rPr lang="en-US" sz="1600" i="1" noProof="0" dirty="0"/>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US" sz="4200" noProof="0" dirty="0">
                <a:latin typeface="Calibri" panose="020F0502020204030204" pitchFamily="34" charset="0"/>
                <a:ea typeface="Calibri" panose="020F0502020204030204" pitchFamily="34" charset="0"/>
                <a:cs typeface="Calibri" panose="020F0502020204030204" pitchFamily="34" charset="0"/>
              </a:rPr>
              <a:t>README</a:t>
            </a: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latin typeface="Segoe UI" panose="020B0502040204020203" pitchFamily="34" charset="0"/>
                <a:cs typeface="Segoe UI" panose="020B0502040204020203" pitchFamily="34" charset="0"/>
              </a:rPr>
              <a:t>Shaun Lawrie</a:t>
            </a: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US" sz="6000" b="1" noProof="0" dirty="0">
                <a:solidFill>
                  <a:srgbClr val="346296"/>
                </a:solidFill>
                <a:latin typeface="Segoe UI Light" panose="020B0502040204020203" pitchFamily="34" charset="0"/>
                <a:cs typeface="Segoe UI Light" panose="020B0502040204020203" pitchFamily="34" charset="0"/>
              </a:rPr>
              <a:t>Next Up:</a:t>
            </a: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noProof="0" dirty="0"/>
              <a:t>3</a:t>
            </a:r>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3</a:t>
            </a: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2</a:t>
            </a: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latin typeface="Stencil" panose="040409050D0802020404" pitchFamily="82" charset="0"/>
              </a:rPr>
              <a:t>1</a:t>
            </a: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t>Shaun Lawrie</a:t>
            </a:r>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US" sz="6000" b="1" noProof="0" dirty="0">
                <a:solidFill>
                  <a:srgbClr val="346296"/>
                </a:solidFill>
                <a:latin typeface="+mn-lt"/>
              </a:rPr>
              <a:t>PowerShell Terminal UI Design with Spectre Console</a:t>
            </a: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en-US" sz="4000" b="1" kern="1200" noProof="0" dirty="0">
                <a:solidFill>
                  <a:srgbClr val="346296"/>
                </a:solidFill>
                <a:effectLst/>
                <a:latin typeface="Calibri" panose="020F0502020204030204" pitchFamily="34" charset="0"/>
                <a:ea typeface="+mn-ea"/>
                <a:cs typeface="+mn-cs"/>
              </a:rPr>
              <a:t>Many thanks to our sponsors:</a:t>
            </a:r>
            <a:endParaRPr lang="en-US" noProof="0" dirty="0"/>
          </a:p>
        </p:txBody>
      </p:sp>
      <p:pic>
        <p:nvPicPr>
          <p:cNvPr id="6" name="Image 5" descr="Une image contenant texte, Police, capture d’écran, logo&#10;&#10;Le contenu généré par l’IA peut être incorrect.">
            <a:extLst>
              <a:ext uri="{FF2B5EF4-FFF2-40B4-BE49-F238E27FC236}">
                <a16:creationId xmlns:a16="http://schemas.microsoft.com/office/drawing/2014/main" id="{7055FC4D-305C-B66C-BD15-95904A343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4384" y="1830625"/>
            <a:ext cx="7643232" cy="4025723"/>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591607"/>
            <a:ext cx="7817544"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46113" indent="-646113">
              <a:buNone/>
            </a:pPr>
            <a:r>
              <a:rPr lang="en-US" noProof="0" dirty="0"/>
              <a:t>🎸 Studied to be a musician…</a:t>
            </a:r>
            <a:br>
              <a:rPr lang="en-US" noProof="0" dirty="0"/>
            </a:br>
            <a:r>
              <a:rPr lang="en-US" noProof="0" dirty="0"/>
              <a:t>Ended up working in Performance Engineering, Testing, Development, Site Reliability and more with some of the largest web platforms in New Zealand over the last 10 years.</a:t>
            </a:r>
          </a:p>
          <a:p>
            <a:pPr marL="0" indent="0">
              <a:spcBef>
                <a:spcPts val="2400"/>
              </a:spcBef>
              <a:buNone/>
            </a:pPr>
            <a:r>
              <a:rPr lang="en-US" noProof="0" dirty="0"/>
              <a:t>🏢 Platform Engineering Lead @ PartsTrader</a:t>
            </a:r>
          </a:p>
          <a:p>
            <a:pPr marL="0" indent="0">
              <a:spcBef>
                <a:spcPts val="2400"/>
              </a:spcBef>
              <a:buNone/>
            </a:pPr>
            <a:r>
              <a:rPr lang="en-US" noProof="0" dirty="0"/>
              <a:t>🌏 Wellington, New Zealand</a:t>
            </a: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en-US" sz="6600" noProof="0" dirty="0">
                <a:solidFill>
                  <a:srgbClr val="346296"/>
                </a:solidFill>
                <a:latin typeface="+mn-lt"/>
                <a:ea typeface="+mn-ea"/>
                <a:cs typeface="+mn-cs"/>
              </a:rPr>
              <a:t>Shaun Lawrie</a:t>
            </a:r>
          </a:p>
        </p:txBody>
      </p:sp>
      <p:pic>
        <p:nvPicPr>
          <p:cNvPr id="6" name="Picture 5" descr="A person smiling for a picture&#10;&#10;AI-generated content may be incorrect.">
            <a:extLst>
              <a:ext uri="{FF2B5EF4-FFF2-40B4-BE49-F238E27FC236}">
                <a16:creationId xmlns:a16="http://schemas.microsoft.com/office/drawing/2014/main" id="{08DE9E79-EB72-8AA9-9372-5CDAECF65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64" y="265602"/>
            <a:ext cx="3218768" cy="3218768"/>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1E0F2-FE77-51ED-3F72-223B58926E74}"/>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07D5023A-BA6F-B725-CF78-FD889E577EA6}"/>
              </a:ext>
            </a:extLst>
          </p:cNvPr>
          <p:cNvSpPr>
            <a:spLocks noGrp="1"/>
          </p:cNvSpPr>
          <p:nvPr>
            <p:ph idx="1"/>
          </p:nvPr>
        </p:nvSpPr>
        <p:spPr>
          <a:xfrm>
            <a:off x="838200" y="1462772"/>
            <a:ext cx="10515600" cy="4351338"/>
          </a:xfrm>
        </p:spPr>
        <p:txBody>
          <a:bodyPr/>
          <a:lstStyle/>
          <a:p>
            <a:pPr>
              <a:buFont typeface="Wingdings" panose="05000000000000000000" pitchFamily="2" charset="2"/>
              <a:buChar char="§"/>
            </a:pPr>
            <a:r>
              <a:rPr lang="en-US" sz="2800" noProof="0" dirty="0"/>
              <a:t>A .NET library that makes it easier to create beautiful console applications.</a:t>
            </a:r>
            <a:endParaRPr lang="en-US" noProof="0" dirty="0"/>
          </a:p>
        </p:txBody>
      </p:sp>
      <p:pic>
        <p:nvPicPr>
          <p:cNvPr id="5" name="Picture 4">
            <a:extLst>
              <a:ext uri="{FF2B5EF4-FFF2-40B4-BE49-F238E27FC236}">
                <a16:creationId xmlns:a16="http://schemas.microsoft.com/office/drawing/2014/main" id="{948EE717-3AB4-970C-8400-17FB2D179FDF}"/>
              </a:ext>
            </a:extLst>
          </p:cNvPr>
          <p:cNvPicPr>
            <a:picLocks noChangeAspect="1"/>
          </p:cNvPicPr>
          <p:nvPr/>
        </p:nvPicPr>
        <p:blipFill>
          <a:blip r:embed="rId3"/>
          <a:stretch>
            <a:fillRect/>
          </a:stretch>
        </p:blipFill>
        <p:spPr>
          <a:xfrm>
            <a:off x="1190638" y="2423460"/>
            <a:ext cx="6552136" cy="3433763"/>
          </a:xfrm>
          <a:prstGeom prst="rect">
            <a:avLst/>
          </a:prstGeom>
          <a:effectLst>
            <a:outerShdw blurRad="241300" dir="2700000" sx="101000" sy="101000" algn="tl" rotWithShape="0">
              <a:schemeClr val="accent5">
                <a:lumMod val="50000"/>
                <a:alpha val="75000"/>
              </a:schemeClr>
            </a:outerShdw>
          </a:effectLst>
        </p:spPr>
      </p:pic>
      <p:pic>
        <p:nvPicPr>
          <p:cNvPr id="6" name="Picture 5">
            <a:extLst>
              <a:ext uri="{FF2B5EF4-FFF2-40B4-BE49-F238E27FC236}">
                <a16:creationId xmlns:a16="http://schemas.microsoft.com/office/drawing/2014/main" id="{26380C0F-9CB0-4988-A579-AF1B2A63B80C}"/>
              </a:ext>
            </a:extLst>
          </p:cNvPr>
          <p:cNvPicPr>
            <a:picLocks noChangeAspect="1"/>
          </p:cNvPicPr>
          <p:nvPr/>
        </p:nvPicPr>
        <p:blipFill>
          <a:blip r:embed="rId4"/>
          <a:stretch>
            <a:fillRect/>
          </a:stretch>
        </p:blipFill>
        <p:spPr>
          <a:xfrm>
            <a:off x="8504050" y="2743951"/>
            <a:ext cx="2786041" cy="2786041"/>
          </a:xfrm>
          <a:prstGeom prst="rect">
            <a:avLst/>
          </a:prstGeom>
          <a:effectLst>
            <a:outerShdw blurRad="241300" dir="2700000" sx="101000" sy="101000" algn="tl" rotWithShape="0">
              <a:schemeClr val="accent5">
                <a:lumMod val="50000"/>
                <a:alpha val="75000"/>
              </a:schemeClr>
            </a:outerShdw>
          </a:effectLst>
        </p:spPr>
      </p:pic>
      <p:sp>
        <p:nvSpPr>
          <p:cNvPr id="7" name="TextBox 6">
            <a:extLst>
              <a:ext uri="{FF2B5EF4-FFF2-40B4-BE49-F238E27FC236}">
                <a16:creationId xmlns:a16="http://schemas.microsoft.com/office/drawing/2014/main" id="{287E0B49-D05E-8CEA-4B66-4CAED10221AD}"/>
              </a:ext>
            </a:extLst>
          </p:cNvPr>
          <p:cNvSpPr txBox="1"/>
          <p:nvPr/>
        </p:nvSpPr>
        <p:spPr>
          <a:xfrm>
            <a:off x="8504051" y="5361483"/>
            <a:ext cx="2786041" cy="369332"/>
          </a:xfrm>
          <a:prstGeom prst="rect">
            <a:avLst/>
          </a:prstGeom>
          <a:effectLst>
            <a:outerShdw blurRad="228600" dir="2700000" sx="101000" sy="101000" algn="tl" rotWithShape="0">
              <a:prstClr val="black">
                <a:alpha val="75000"/>
              </a:prstClr>
            </a:outerShdw>
          </a:effectLst>
        </p:spPr>
        <p:txBody>
          <a:bodyPr wrap="square">
            <a:spAutoFit/>
          </a:bodyPr>
          <a:lstStyle>
            <a:defPPr>
              <a:defRPr lang="en-US"/>
            </a:defPPr>
            <a:lvl1pPr>
              <a:defRPr i="1">
                <a:solidFill>
                  <a:schemeClr val="accent5">
                    <a:lumMod val="50000"/>
                  </a:schemeClr>
                </a:solidFill>
              </a:defRPr>
            </a:lvl1pPr>
          </a:lstStyle>
          <a:p>
            <a:pPr algn="ctr"/>
            <a:r>
              <a:rPr lang="en-US" dirty="0"/>
              <a:t>github.com/patriksvensson</a:t>
            </a:r>
            <a:endParaRPr lang="en-NZ" dirty="0"/>
          </a:p>
        </p:txBody>
      </p:sp>
      <p:sp>
        <p:nvSpPr>
          <p:cNvPr id="10" name="TextBox 9">
            <a:extLst>
              <a:ext uri="{FF2B5EF4-FFF2-40B4-BE49-F238E27FC236}">
                <a16:creationId xmlns:a16="http://schemas.microsoft.com/office/drawing/2014/main" id="{9B072AA7-5B27-4A66-49DD-1786620A95A8}"/>
              </a:ext>
            </a:extLst>
          </p:cNvPr>
          <p:cNvSpPr txBox="1"/>
          <p:nvPr/>
        </p:nvSpPr>
        <p:spPr>
          <a:xfrm>
            <a:off x="3073685" y="5858124"/>
            <a:ext cx="2786041" cy="369332"/>
          </a:xfrm>
          <a:prstGeom prst="rect">
            <a:avLst/>
          </a:prstGeom>
          <a:effectLst>
            <a:outerShdw blurRad="228600" dir="2700000" sx="101000" sy="101000" algn="tl" rotWithShape="0">
              <a:prstClr val="black">
                <a:alpha val="75000"/>
              </a:prstClr>
            </a:outerShdw>
          </a:effectLst>
        </p:spPr>
        <p:txBody>
          <a:bodyPr wrap="square">
            <a:spAutoFit/>
          </a:bodyPr>
          <a:lstStyle>
            <a:defPPr>
              <a:defRPr lang="en-US"/>
            </a:defPPr>
            <a:lvl1pPr>
              <a:defRPr i="1">
                <a:solidFill>
                  <a:schemeClr val="accent5">
                    <a:lumMod val="50000"/>
                  </a:schemeClr>
                </a:solidFill>
              </a:defRPr>
            </a:lvl1pPr>
          </a:lstStyle>
          <a:p>
            <a:pPr algn="ctr"/>
            <a:r>
              <a:rPr lang="en-US" dirty="0"/>
              <a:t>spectreconsole.net</a:t>
            </a:r>
            <a:endParaRPr lang="en-NZ" dirty="0"/>
          </a:p>
        </p:txBody>
      </p:sp>
    </p:spTree>
    <p:extLst>
      <p:ext uri="{BB962C8B-B14F-4D97-AF65-F5344CB8AC3E}">
        <p14:creationId xmlns:p14="http://schemas.microsoft.com/office/powerpoint/2010/main" val="110136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170A-24B0-FE61-845F-41776409818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61D0473-C7EE-9994-0FAC-6928D744C48C}"/>
              </a:ext>
            </a:extLst>
          </p:cNvPr>
          <p:cNvPicPr>
            <a:picLocks noChangeAspect="1"/>
          </p:cNvPicPr>
          <p:nvPr/>
        </p:nvPicPr>
        <p:blipFill>
          <a:blip r:embed="rId3"/>
          <a:stretch>
            <a:fillRect/>
          </a:stretch>
        </p:blipFill>
        <p:spPr>
          <a:xfrm>
            <a:off x="203200" y="1916204"/>
            <a:ext cx="11861800" cy="4403295"/>
          </a:xfrm>
          <a:prstGeom prst="rect">
            <a:avLst/>
          </a:prstGeom>
        </p:spPr>
      </p:pic>
      <p:sp>
        <p:nvSpPr>
          <p:cNvPr id="2" name="Titre 1">
            <a:extLst>
              <a:ext uri="{FF2B5EF4-FFF2-40B4-BE49-F238E27FC236}">
                <a16:creationId xmlns:a16="http://schemas.microsoft.com/office/drawing/2014/main" id="{EF2CB3BC-720E-6003-8EA8-FEC583FB8681}"/>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BDA6DF2A-D5A4-B79E-3378-AF9E1AF04D73}"/>
              </a:ext>
            </a:extLst>
          </p:cNvPr>
          <p:cNvSpPr>
            <a:spLocks noGrp="1"/>
          </p:cNvSpPr>
          <p:nvPr>
            <p:ph idx="1"/>
          </p:nvPr>
        </p:nvSpPr>
        <p:spPr>
          <a:xfrm>
            <a:off x="838200" y="1513567"/>
            <a:ext cx="10515600" cy="4351338"/>
          </a:xfrm>
        </p:spPr>
        <p:txBody>
          <a:bodyPr/>
          <a:lstStyle/>
          <a:p>
            <a:pPr>
              <a:buFont typeface="Wingdings" panose="05000000000000000000" pitchFamily="2" charset="2"/>
              <a:buChar char="§"/>
            </a:pPr>
            <a:r>
              <a:rPr lang="en-US" dirty="0"/>
              <a:t>lmage Outputs:</a:t>
            </a:r>
          </a:p>
        </p:txBody>
      </p:sp>
      <p:grpSp>
        <p:nvGrpSpPr>
          <p:cNvPr id="10" name="Group 9">
            <a:extLst>
              <a:ext uri="{FF2B5EF4-FFF2-40B4-BE49-F238E27FC236}">
                <a16:creationId xmlns:a16="http://schemas.microsoft.com/office/drawing/2014/main" id="{BE61D292-6DC5-88AC-54A0-43D8B79A5B41}"/>
              </a:ext>
            </a:extLst>
          </p:cNvPr>
          <p:cNvGrpSpPr/>
          <p:nvPr/>
        </p:nvGrpSpPr>
        <p:grpSpPr>
          <a:xfrm>
            <a:off x="7712846" y="5629174"/>
            <a:ext cx="4269222" cy="600531"/>
            <a:chOff x="6936519" y="5772627"/>
            <a:chExt cx="4269222" cy="600531"/>
          </a:xfrm>
        </p:grpSpPr>
        <p:sp>
          <p:nvSpPr>
            <p:cNvPr id="11" name="Rectangle: Rounded Corners 10">
              <a:extLst>
                <a:ext uri="{FF2B5EF4-FFF2-40B4-BE49-F238E27FC236}">
                  <a16:creationId xmlns:a16="http://schemas.microsoft.com/office/drawing/2014/main" id="{06B6B6F1-4EC4-FC37-2178-DAFE2E0654C3}"/>
                </a:ext>
              </a:extLst>
            </p:cNvPr>
            <p:cNvSpPr/>
            <p:nvPr/>
          </p:nvSpPr>
          <p:spPr>
            <a:xfrm>
              <a:off x="6936519" y="5863884"/>
              <a:ext cx="3874916"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github.com/jdhitsolutions/PSPodcast</a:t>
              </a:r>
              <a:endParaRPr lang="en-NZ" dirty="0">
                <a:solidFill>
                  <a:schemeClr val="tx1"/>
                </a:solidFill>
              </a:endParaRPr>
            </a:p>
          </p:txBody>
        </p:sp>
        <p:pic>
          <p:nvPicPr>
            <p:cNvPr id="12" name="Picture 11">
              <a:extLst>
                <a:ext uri="{FF2B5EF4-FFF2-40B4-BE49-F238E27FC236}">
                  <a16:creationId xmlns:a16="http://schemas.microsoft.com/office/drawing/2014/main" id="{DE899518-5066-C122-5DC0-6EEC167515F4}"/>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3" name="Picture 12">
            <a:extLst>
              <a:ext uri="{FF2B5EF4-FFF2-40B4-BE49-F238E27FC236}">
                <a16:creationId xmlns:a16="http://schemas.microsoft.com/office/drawing/2014/main" id="{E5BA0CC5-BBBD-4CC4-0572-4E3A547BB9D7}"/>
              </a:ext>
            </a:extLst>
          </p:cNvPr>
          <p:cNvPicPr>
            <a:picLocks noChangeAspect="1"/>
          </p:cNvPicPr>
          <p:nvPr/>
        </p:nvPicPr>
        <p:blipFill>
          <a:blip r:embed="rId5"/>
          <a:stretch>
            <a:fillRect/>
          </a:stretch>
        </p:blipFill>
        <p:spPr>
          <a:xfrm>
            <a:off x="11380008" y="5625767"/>
            <a:ext cx="603938" cy="603938"/>
          </a:xfrm>
          <a:prstGeom prst="rect">
            <a:avLst/>
          </a:prstGeom>
          <a:effectLst/>
        </p:spPr>
      </p:pic>
    </p:spTree>
    <p:extLst>
      <p:ext uri="{BB962C8B-B14F-4D97-AF65-F5344CB8AC3E}">
        <p14:creationId xmlns:p14="http://schemas.microsoft.com/office/powerpoint/2010/main" val="1511616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D8D62-5964-546D-B279-C32249867A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98E2DA-920D-CD48-7C6F-EA49282925DA}"/>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A463E97C-EAB5-44E5-B136-4361A41CFF8E}"/>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Interactive Prompts:</a:t>
            </a:r>
          </a:p>
        </p:txBody>
      </p:sp>
      <p:pic>
        <p:nvPicPr>
          <p:cNvPr id="10" name="Picture 9">
            <a:extLst>
              <a:ext uri="{FF2B5EF4-FFF2-40B4-BE49-F238E27FC236}">
                <a16:creationId xmlns:a16="http://schemas.microsoft.com/office/drawing/2014/main" id="{A32B56CD-D1FB-A88B-B59C-117BDD295546}"/>
              </a:ext>
            </a:extLst>
          </p:cNvPr>
          <p:cNvPicPr>
            <a:picLocks noChangeAspect="1"/>
          </p:cNvPicPr>
          <p:nvPr/>
        </p:nvPicPr>
        <p:blipFill>
          <a:blip r:embed="rId3"/>
          <a:stretch>
            <a:fillRect/>
          </a:stretch>
        </p:blipFill>
        <p:spPr>
          <a:xfrm>
            <a:off x="545330" y="2557564"/>
            <a:ext cx="11061300" cy="2999268"/>
          </a:xfrm>
          <a:prstGeom prst="rect">
            <a:avLst/>
          </a:prstGeom>
          <a:effectLst>
            <a:outerShdw blurRad="241300" dir="2700000" sx="101000" sy="101000" algn="tl" rotWithShape="0">
              <a:schemeClr val="accent5">
                <a:lumMod val="50000"/>
                <a:alpha val="75000"/>
              </a:schemeClr>
            </a:outerShdw>
          </a:effectLst>
        </p:spPr>
      </p:pic>
      <p:grpSp>
        <p:nvGrpSpPr>
          <p:cNvPr id="7" name="Group 6">
            <a:extLst>
              <a:ext uri="{FF2B5EF4-FFF2-40B4-BE49-F238E27FC236}">
                <a16:creationId xmlns:a16="http://schemas.microsoft.com/office/drawing/2014/main" id="{D7C742A3-3968-04DD-6D0C-CC74CEF46B1D}"/>
              </a:ext>
            </a:extLst>
          </p:cNvPr>
          <p:cNvGrpSpPr/>
          <p:nvPr/>
        </p:nvGrpSpPr>
        <p:grpSpPr>
          <a:xfrm>
            <a:off x="7401264" y="5246758"/>
            <a:ext cx="4503728" cy="600531"/>
            <a:chOff x="6702013" y="5772627"/>
            <a:chExt cx="4503728" cy="600531"/>
          </a:xfrm>
        </p:grpSpPr>
        <p:sp>
          <p:nvSpPr>
            <p:cNvPr id="6" name="Rectangle: Rounded Corners 5">
              <a:extLst>
                <a:ext uri="{FF2B5EF4-FFF2-40B4-BE49-F238E27FC236}">
                  <a16:creationId xmlns:a16="http://schemas.microsoft.com/office/drawing/2014/main" id="{BB8E3A39-BEED-A12A-5DB3-3A009F2A1108}"/>
                </a:ext>
              </a:extLst>
            </p:cNvPr>
            <p:cNvSpPr/>
            <p:nvPr/>
          </p:nvSpPr>
          <p:spPr>
            <a:xfrm>
              <a:off x="6702013" y="5863884"/>
              <a:ext cx="4109422"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github.com/sassdawe/PwshXDRSpectre</a:t>
              </a:r>
              <a:endParaRPr lang="en-NZ" dirty="0">
                <a:solidFill>
                  <a:schemeClr val="tx1"/>
                </a:solidFill>
              </a:endParaRPr>
            </a:p>
          </p:txBody>
        </p:sp>
        <p:pic>
          <p:nvPicPr>
            <p:cNvPr id="5" name="Picture 4">
              <a:extLst>
                <a:ext uri="{FF2B5EF4-FFF2-40B4-BE49-F238E27FC236}">
                  <a16:creationId xmlns:a16="http://schemas.microsoft.com/office/drawing/2014/main" id="{8F575E5D-1B06-75F8-28C0-4A99A6CB4892}"/>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spTree>
    <p:extLst>
      <p:ext uri="{BB962C8B-B14F-4D97-AF65-F5344CB8AC3E}">
        <p14:creationId xmlns:p14="http://schemas.microsoft.com/office/powerpoint/2010/main" val="4167890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1253D-ED47-EC47-349A-AFDE2613DC8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1BFC1DF-1687-44ED-244B-22A9947B5E2A}"/>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356E3F26-003B-BF70-4664-A0CD38E2964F}"/>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Visual Widgets:</a:t>
            </a:r>
          </a:p>
        </p:txBody>
      </p:sp>
      <p:pic>
        <p:nvPicPr>
          <p:cNvPr id="7" name="Picture 6">
            <a:extLst>
              <a:ext uri="{FF2B5EF4-FFF2-40B4-BE49-F238E27FC236}">
                <a16:creationId xmlns:a16="http://schemas.microsoft.com/office/drawing/2014/main" id="{65212221-0F56-F61E-DE6D-138F8BAD9C44}"/>
              </a:ext>
            </a:extLst>
          </p:cNvPr>
          <p:cNvPicPr>
            <a:picLocks noChangeAspect="1"/>
          </p:cNvPicPr>
          <p:nvPr/>
        </p:nvPicPr>
        <p:blipFill>
          <a:blip r:embed="rId3"/>
          <a:stretch>
            <a:fillRect/>
          </a:stretch>
        </p:blipFill>
        <p:spPr>
          <a:xfrm>
            <a:off x="547142" y="2266052"/>
            <a:ext cx="11086057" cy="3501943"/>
          </a:xfrm>
          <a:prstGeom prst="rect">
            <a:avLst/>
          </a:prstGeom>
          <a:effectLst>
            <a:outerShdw blurRad="241300" dir="2700000" sx="101000" sy="101000" algn="tl" rotWithShape="0">
              <a:schemeClr val="accent5">
                <a:lumMod val="50000"/>
                <a:alpha val="75000"/>
              </a:schemeClr>
            </a:outerShdw>
          </a:effectLst>
        </p:spPr>
      </p:pic>
      <p:grpSp>
        <p:nvGrpSpPr>
          <p:cNvPr id="13" name="Group 12">
            <a:extLst>
              <a:ext uri="{FF2B5EF4-FFF2-40B4-BE49-F238E27FC236}">
                <a16:creationId xmlns:a16="http://schemas.microsoft.com/office/drawing/2014/main" id="{0B98E574-D0B8-35ED-D518-5EF86A1B5870}"/>
              </a:ext>
            </a:extLst>
          </p:cNvPr>
          <p:cNvGrpSpPr/>
          <p:nvPr/>
        </p:nvGrpSpPr>
        <p:grpSpPr>
          <a:xfrm>
            <a:off x="7315200" y="5450629"/>
            <a:ext cx="4619863" cy="600531"/>
            <a:chOff x="6585878" y="5772627"/>
            <a:chExt cx="4619863" cy="600531"/>
          </a:xfrm>
        </p:grpSpPr>
        <p:sp>
          <p:nvSpPr>
            <p:cNvPr id="14" name="Rectangle: Rounded Corners 13">
              <a:extLst>
                <a:ext uri="{FF2B5EF4-FFF2-40B4-BE49-F238E27FC236}">
                  <a16:creationId xmlns:a16="http://schemas.microsoft.com/office/drawing/2014/main" id="{0A66449D-39F8-E6AE-5602-CAD40DFB4BC8}"/>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github.com/HeyItsGilbert/PesterExplorer</a:t>
              </a:r>
              <a:endParaRPr lang="en-NZ" dirty="0">
                <a:solidFill>
                  <a:schemeClr val="tx1"/>
                </a:solidFill>
              </a:endParaRPr>
            </a:p>
          </p:txBody>
        </p:sp>
        <p:pic>
          <p:nvPicPr>
            <p:cNvPr id="15" name="Picture 14">
              <a:extLst>
                <a:ext uri="{FF2B5EF4-FFF2-40B4-BE49-F238E27FC236}">
                  <a16:creationId xmlns:a16="http://schemas.microsoft.com/office/drawing/2014/main" id="{E370CF41-9345-79AE-556E-C179E00B5F7D}"/>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2" name="Picture 2">
            <a:extLst>
              <a:ext uri="{FF2B5EF4-FFF2-40B4-BE49-F238E27FC236}">
                <a16:creationId xmlns:a16="http://schemas.microsoft.com/office/drawing/2014/main" id="{2438737C-76ED-6A50-9456-8B74CEFD88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22109" y="5443828"/>
            <a:ext cx="612954" cy="612954"/>
          </a:xfrm>
          <a:prstGeom prst="rect">
            <a:avLst/>
          </a:prstGeom>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031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E8DA-EAE0-6622-40B7-ED628A17DE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857710-89C2-7C13-5C18-3AB356087DC1}"/>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B201A70D-8712-6067-1B8D-B79AE3015671}"/>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Complex Layouts:</a:t>
            </a:r>
          </a:p>
        </p:txBody>
      </p:sp>
      <p:pic>
        <p:nvPicPr>
          <p:cNvPr id="9" name="Picture 8">
            <a:extLst>
              <a:ext uri="{FF2B5EF4-FFF2-40B4-BE49-F238E27FC236}">
                <a16:creationId xmlns:a16="http://schemas.microsoft.com/office/drawing/2014/main" id="{31E9BA63-21B4-336C-00B5-CE3533C67ABF}"/>
              </a:ext>
            </a:extLst>
          </p:cNvPr>
          <p:cNvPicPr>
            <a:picLocks noChangeAspect="1"/>
          </p:cNvPicPr>
          <p:nvPr/>
        </p:nvPicPr>
        <p:blipFill>
          <a:blip r:embed="rId3"/>
          <a:stretch>
            <a:fillRect/>
          </a:stretch>
        </p:blipFill>
        <p:spPr>
          <a:xfrm>
            <a:off x="552612" y="2253662"/>
            <a:ext cx="11078128" cy="3499438"/>
          </a:xfrm>
          <a:prstGeom prst="rect">
            <a:avLst/>
          </a:prstGeom>
          <a:effectLst>
            <a:outerShdw blurRad="241300" dir="2700000" sx="101000" sy="101000" algn="tl" rotWithShape="0">
              <a:schemeClr val="accent5">
                <a:lumMod val="50000"/>
                <a:alpha val="75000"/>
              </a:schemeClr>
            </a:outerShdw>
          </a:effectLst>
        </p:spPr>
      </p:pic>
      <p:grpSp>
        <p:nvGrpSpPr>
          <p:cNvPr id="12" name="Group 11">
            <a:extLst>
              <a:ext uri="{FF2B5EF4-FFF2-40B4-BE49-F238E27FC236}">
                <a16:creationId xmlns:a16="http://schemas.microsoft.com/office/drawing/2014/main" id="{E3A84203-FB8F-3D6C-4C51-15B3091531F3}"/>
              </a:ext>
            </a:extLst>
          </p:cNvPr>
          <p:cNvGrpSpPr/>
          <p:nvPr/>
        </p:nvGrpSpPr>
        <p:grpSpPr>
          <a:xfrm>
            <a:off x="7315200" y="5450629"/>
            <a:ext cx="4619863" cy="600531"/>
            <a:chOff x="6585878" y="5772627"/>
            <a:chExt cx="4619863" cy="600531"/>
          </a:xfrm>
        </p:grpSpPr>
        <p:sp>
          <p:nvSpPr>
            <p:cNvPr id="13" name="Rectangle: Rounded Corners 12">
              <a:extLst>
                <a:ext uri="{FF2B5EF4-FFF2-40B4-BE49-F238E27FC236}">
                  <a16:creationId xmlns:a16="http://schemas.microsoft.com/office/drawing/2014/main" id="{6DEE3E79-95FC-73C3-6E49-DA26F6631714}"/>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github.com/HeyItsGilbert/PesterExplorer</a:t>
              </a:r>
              <a:endParaRPr lang="en-NZ" dirty="0">
                <a:solidFill>
                  <a:schemeClr val="tx1"/>
                </a:solidFill>
              </a:endParaRPr>
            </a:p>
          </p:txBody>
        </p:sp>
        <p:pic>
          <p:nvPicPr>
            <p:cNvPr id="14" name="Picture 13">
              <a:extLst>
                <a:ext uri="{FF2B5EF4-FFF2-40B4-BE49-F238E27FC236}">
                  <a16:creationId xmlns:a16="http://schemas.microsoft.com/office/drawing/2014/main" id="{2D886EDC-56C1-6C6C-8593-84D9A46A3BB0}"/>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5" name="Picture 2">
            <a:extLst>
              <a:ext uri="{FF2B5EF4-FFF2-40B4-BE49-F238E27FC236}">
                <a16:creationId xmlns:a16="http://schemas.microsoft.com/office/drawing/2014/main" id="{992A26DF-9FB4-9237-0DF7-83013EB474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22109" y="5443828"/>
            <a:ext cx="612954" cy="612954"/>
          </a:xfrm>
          <a:prstGeom prst="rect">
            <a:avLst/>
          </a:prstGeom>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197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DFB9C-5863-2DA0-4E1C-124774A38F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27068BC-48E5-EEF2-6791-2C52938892AD}"/>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2011D4C9-6085-B4F8-BCBF-09BAE3550CC0}"/>
              </a:ext>
            </a:extLst>
          </p:cNvPr>
          <p:cNvSpPr>
            <a:spLocks noGrp="1"/>
          </p:cNvSpPr>
          <p:nvPr>
            <p:ph idx="1"/>
          </p:nvPr>
        </p:nvSpPr>
        <p:spPr>
          <a:xfrm>
            <a:off x="830943" y="1409660"/>
            <a:ext cx="10515600" cy="4351338"/>
          </a:xfrm>
        </p:spPr>
        <p:txBody>
          <a:bodyPr>
            <a:normAutofit/>
          </a:bodyPr>
          <a:lstStyle/>
          <a:p>
            <a:pPr>
              <a:buFont typeface="Wingdings" panose="05000000000000000000" pitchFamily="2" charset="2"/>
              <a:buChar char="§"/>
            </a:pPr>
            <a:r>
              <a:rPr lang="en-US" sz="2800" dirty="0"/>
              <a:t>Interactive TUIs:</a:t>
            </a:r>
          </a:p>
        </p:txBody>
      </p:sp>
      <p:pic>
        <p:nvPicPr>
          <p:cNvPr id="8" name="Modexplorer">
            <a:hlinkClick r:id="" action="ppaction://media"/>
            <a:extLst>
              <a:ext uri="{FF2B5EF4-FFF2-40B4-BE49-F238E27FC236}">
                <a16:creationId xmlns:a16="http://schemas.microsoft.com/office/drawing/2014/main" id="{FD253D9E-1A6F-C177-0543-7E179F97F58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45824" y="1947104"/>
            <a:ext cx="8760473" cy="4587842"/>
          </a:xfrm>
          <a:prstGeom prst="rect">
            <a:avLst/>
          </a:prstGeom>
        </p:spPr>
      </p:pic>
      <p:grpSp>
        <p:nvGrpSpPr>
          <p:cNvPr id="12" name="Group 11">
            <a:extLst>
              <a:ext uri="{FF2B5EF4-FFF2-40B4-BE49-F238E27FC236}">
                <a16:creationId xmlns:a16="http://schemas.microsoft.com/office/drawing/2014/main" id="{4B362E71-1484-8825-1619-73D0CD6E5919}"/>
              </a:ext>
            </a:extLst>
          </p:cNvPr>
          <p:cNvGrpSpPr/>
          <p:nvPr/>
        </p:nvGrpSpPr>
        <p:grpSpPr>
          <a:xfrm>
            <a:off x="6084007" y="6194061"/>
            <a:ext cx="4619863" cy="600531"/>
            <a:chOff x="6585878" y="5772627"/>
            <a:chExt cx="4619863" cy="600531"/>
          </a:xfrm>
        </p:grpSpPr>
        <p:sp>
          <p:nvSpPr>
            <p:cNvPr id="13" name="Rectangle: Rounded Corners 12">
              <a:extLst>
                <a:ext uri="{FF2B5EF4-FFF2-40B4-BE49-F238E27FC236}">
                  <a16:creationId xmlns:a16="http://schemas.microsoft.com/office/drawing/2014/main" id="{F352B928-8B2F-93EA-BCC8-C78A7317F52D}"/>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github.com/DearingDev/ModuleExplorer</a:t>
              </a:r>
              <a:endParaRPr lang="en-NZ" dirty="0">
                <a:solidFill>
                  <a:schemeClr val="tx1"/>
                </a:solidFill>
              </a:endParaRPr>
            </a:p>
          </p:txBody>
        </p:sp>
        <p:pic>
          <p:nvPicPr>
            <p:cNvPr id="14" name="Picture 13">
              <a:extLst>
                <a:ext uri="{FF2B5EF4-FFF2-40B4-BE49-F238E27FC236}">
                  <a16:creationId xmlns:a16="http://schemas.microsoft.com/office/drawing/2014/main" id="{052B43D3-8C72-9A83-F46D-A5BDC33CE9CA}"/>
                </a:ext>
              </a:extLst>
            </p:cNvPr>
            <p:cNvPicPr>
              <a:picLocks noChangeAspect="1"/>
            </p:cNvPicPr>
            <p:nvPr/>
          </p:nvPicPr>
          <p:blipFill>
            <a:blip r:embed="rId6"/>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7" name="Picture 6">
            <a:extLst>
              <a:ext uri="{FF2B5EF4-FFF2-40B4-BE49-F238E27FC236}">
                <a16:creationId xmlns:a16="http://schemas.microsoft.com/office/drawing/2014/main" id="{9E0F13CD-85DB-CE7F-E8C7-57C63F8391A4}"/>
              </a:ext>
            </a:extLst>
          </p:cNvPr>
          <p:cNvPicPr>
            <a:picLocks noChangeAspect="1"/>
          </p:cNvPicPr>
          <p:nvPr/>
        </p:nvPicPr>
        <p:blipFill>
          <a:blip r:embed="rId7"/>
          <a:stretch>
            <a:fillRect/>
          </a:stretch>
        </p:blipFill>
        <p:spPr>
          <a:xfrm>
            <a:off x="10115349" y="6194060"/>
            <a:ext cx="600531" cy="600531"/>
          </a:xfrm>
          <a:prstGeom prst="rect">
            <a:avLst/>
          </a:prstGeom>
        </p:spPr>
      </p:pic>
    </p:spTree>
    <p:extLst>
      <p:ext uri="{BB962C8B-B14F-4D97-AF65-F5344CB8AC3E}">
        <p14:creationId xmlns:p14="http://schemas.microsoft.com/office/powerpoint/2010/main" val="319720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88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30E01-3D15-FCAB-0358-A59309E025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9653AE5-42C6-0C29-F504-ADE1AD38BEEC}"/>
              </a:ext>
            </a:extLst>
          </p:cNvPr>
          <p:cNvSpPr>
            <a:spLocks noGrp="1"/>
          </p:cNvSpPr>
          <p:nvPr>
            <p:ph type="title"/>
          </p:nvPr>
        </p:nvSpPr>
        <p:spPr/>
        <p:txBody>
          <a:bodyPr/>
          <a:lstStyle/>
          <a:p>
            <a:r>
              <a:rPr lang="en-US" noProof="0" dirty="0"/>
              <a:t>Spectre Console in Pwsh</a:t>
            </a:r>
          </a:p>
        </p:txBody>
      </p:sp>
      <p:pic>
        <p:nvPicPr>
          <p:cNvPr id="7" name="Picture 6">
            <a:extLst>
              <a:ext uri="{FF2B5EF4-FFF2-40B4-BE49-F238E27FC236}">
                <a16:creationId xmlns:a16="http://schemas.microsoft.com/office/drawing/2014/main" id="{7527581A-2A0A-2758-15F5-D331AE4A75C9}"/>
              </a:ext>
            </a:extLst>
          </p:cNvPr>
          <p:cNvPicPr>
            <a:picLocks noChangeAspect="1"/>
          </p:cNvPicPr>
          <p:nvPr/>
        </p:nvPicPr>
        <p:blipFill>
          <a:blip r:embed="rId3"/>
          <a:stretch>
            <a:fillRect/>
          </a:stretch>
        </p:blipFill>
        <p:spPr>
          <a:xfrm>
            <a:off x="781957" y="1614226"/>
            <a:ext cx="10628086" cy="4452746"/>
          </a:xfrm>
          <a:prstGeom prst="rect">
            <a:avLst/>
          </a:prstGeom>
          <a:effectLst>
            <a:outerShdw blurRad="228600" dir="2700000" sx="101000" sy="101000" algn="tl" rotWithShape="0">
              <a:prstClr val="black">
                <a:alpha val="75000"/>
              </a:prstClr>
            </a:outerShdw>
          </a:effectLst>
        </p:spPr>
      </p:pic>
      <p:pic>
        <p:nvPicPr>
          <p:cNvPr id="13" name="Picture 12">
            <a:extLst>
              <a:ext uri="{FF2B5EF4-FFF2-40B4-BE49-F238E27FC236}">
                <a16:creationId xmlns:a16="http://schemas.microsoft.com/office/drawing/2014/main" id="{633D5E63-B8B6-DEF8-3FD1-3EAEAA63AE9C}"/>
              </a:ext>
            </a:extLst>
          </p:cNvPr>
          <p:cNvPicPr>
            <a:picLocks noChangeAspect="1"/>
          </p:cNvPicPr>
          <p:nvPr/>
        </p:nvPicPr>
        <p:blipFill>
          <a:blip r:embed="rId4"/>
          <a:stretch>
            <a:fillRect/>
          </a:stretch>
        </p:blipFill>
        <p:spPr>
          <a:xfrm>
            <a:off x="9523471" y="4625380"/>
            <a:ext cx="2419688" cy="2019582"/>
          </a:xfrm>
          <a:prstGeom prst="rect">
            <a:avLst/>
          </a:prstGeom>
        </p:spPr>
      </p:pic>
      <p:pic>
        <p:nvPicPr>
          <p:cNvPr id="15" name="Picture 14">
            <a:extLst>
              <a:ext uri="{FF2B5EF4-FFF2-40B4-BE49-F238E27FC236}">
                <a16:creationId xmlns:a16="http://schemas.microsoft.com/office/drawing/2014/main" id="{3DFCCAA4-92BF-A7E4-D8AF-32B8282D52E1}"/>
              </a:ext>
            </a:extLst>
          </p:cNvPr>
          <p:cNvPicPr>
            <a:picLocks noChangeAspect="1"/>
          </p:cNvPicPr>
          <p:nvPr/>
        </p:nvPicPr>
        <p:blipFill>
          <a:blip r:embed="rId5"/>
          <a:stretch>
            <a:fillRect/>
          </a:stretch>
        </p:blipFill>
        <p:spPr>
          <a:xfrm>
            <a:off x="9771829" y="4663485"/>
            <a:ext cx="2010056" cy="1943371"/>
          </a:xfrm>
          <a:prstGeom prst="rect">
            <a:avLst/>
          </a:prstGeom>
        </p:spPr>
      </p:pic>
    </p:spTree>
    <p:extLst>
      <p:ext uri="{BB962C8B-B14F-4D97-AF65-F5344CB8AC3E}">
        <p14:creationId xmlns:p14="http://schemas.microsoft.com/office/powerpoint/2010/main" val="98921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500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9261C-FFF3-2807-200B-35519539AB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D02E96-834C-2056-7B7A-CC075FDFAC05}"/>
              </a:ext>
            </a:extLst>
          </p:cNvPr>
          <p:cNvSpPr>
            <a:spLocks noGrp="1"/>
          </p:cNvSpPr>
          <p:nvPr>
            <p:ph type="title"/>
          </p:nvPr>
        </p:nvSpPr>
        <p:spPr/>
        <p:txBody>
          <a:bodyPr/>
          <a:lstStyle/>
          <a:p>
            <a:r>
              <a:rPr lang="en-US" noProof="0" dirty="0"/>
              <a:t>Spectre Console in Pwsh</a:t>
            </a:r>
          </a:p>
        </p:txBody>
      </p:sp>
      <p:pic>
        <p:nvPicPr>
          <p:cNvPr id="4" name="Picture 3">
            <a:extLst>
              <a:ext uri="{FF2B5EF4-FFF2-40B4-BE49-F238E27FC236}">
                <a16:creationId xmlns:a16="http://schemas.microsoft.com/office/drawing/2014/main" id="{357A0137-EBEB-F7A4-B731-A6D6ACBAECBC}"/>
              </a:ext>
            </a:extLst>
          </p:cNvPr>
          <p:cNvPicPr>
            <a:picLocks noChangeAspect="1"/>
          </p:cNvPicPr>
          <p:nvPr/>
        </p:nvPicPr>
        <p:blipFill>
          <a:blip r:embed="rId3"/>
          <a:stretch>
            <a:fillRect/>
          </a:stretch>
        </p:blipFill>
        <p:spPr>
          <a:xfrm>
            <a:off x="781957" y="1614228"/>
            <a:ext cx="10628086" cy="4452746"/>
          </a:xfrm>
          <a:prstGeom prst="rect">
            <a:avLst/>
          </a:prstGeom>
          <a:effectLst>
            <a:outerShdw blurRad="228600" dist="12700" dir="2700000" sx="101000" sy="101000" algn="tl" rotWithShape="0">
              <a:prstClr val="black">
                <a:alpha val="75000"/>
              </a:prstClr>
            </a:outerShdw>
          </a:effectLst>
        </p:spPr>
      </p:pic>
      <p:pic>
        <p:nvPicPr>
          <p:cNvPr id="6" name="Picture 5">
            <a:extLst>
              <a:ext uri="{FF2B5EF4-FFF2-40B4-BE49-F238E27FC236}">
                <a16:creationId xmlns:a16="http://schemas.microsoft.com/office/drawing/2014/main" id="{AE191A41-5F44-A12C-1F54-00EEE1DDA67B}"/>
              </a:ext>
            </a:extLst>
          </p:cNvPr>
          <p:cNvPicPr>
            <a:picLocks noChangeAspect="1"/>
          </p:cNvPicPr>
          <p:nvPr/>
        </p:nvPicPr>
        <p:blipFill>
          <a:blip r:embed="rId4"/>
          <a:stretch>
            <a:fillRect/>
          </a:stretch>
        </p:blipFill>
        <p:spPr>
          <a:xfrm>
            <a:off x="9790658" y="4663036"/>
            <a:ext cx="1943371" cy="1886213"/>
          </a:xfrm>
          <a:prstGeom prst="rect">
            <a:avLst/>
          </a:prstGeom>
        </p:spPr>
      </p:pic>
    </p:spTree>
    <p:extLst>
      <p:ext uri="{BB962C8B-B14F-4D97-AF65-F5344CB8AC3E}">
        <p14:creationId xmlns:p14="http://schemas.microsoft.com/office/powerpoint/2010/main" val="195282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AA1C7-7C69-71CF-75F1-46461805B7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7D7903-EBBC-54C6-36F7-7B8E04EB6DFF}"/>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AA85A067-E6F3-3F51-D1C6-A825D7B9FC78}"/>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Goals for PwshSpectreConsole</a:t>
            </a:r>
          </a:p>
          <a:p>
            <a:pPr lvl="1"/>
            <a:r>
              <a:rPr lang="en-US" dirty="0"/>
              <a:t>Quick access to all Spectre Console functionality</a:t>
            </a:r>
          </a:p>
          <a:p>
            <a:pPr lvl="1"/>
            <a:r>
              <a:rPr lang="en-US" dirty="0"/>
              <a:t>Extensive examples and help</a:t>
            </a:r>
          </a:p>
          <a:p>
            <a:pPr marL="457200" lvl="1" indent="0">
              <a:buNone/>
            </a:pPr>
            <a:endParaRPr lang="en-US" dirty="0"/>
          </a:p>
        </p:txBody>
      </p:sp>
      <p:pic>
        <p:nvPicPr>
          <p:cNvPr id="11" name="Picture 10">
            <a:extLst>
              <a:ext uri="{FF2B5EF4-FFF2-40B4-BE49-F238E27FC236}">
                <a16:creationId xmlns:a16="http://schemas.microsoft.com/office/drawing/2014/main" id="{2542050B-7A40-708A-1950-188C62F779B9}"/>
              </a:ext>
            </a:extLst>
          </p:cNvPr>
          <p:cNvPicPr>
            <a:picLocks noChangeAspect="1"/>
          </p:cNvPicPr>
          <p:nvPr/>
        </p:nvPicPr>
        <p:blipFill>
          <a:blip r:embed="rId3"/>
          <a:stretch>
            <a:fillRect/>
          </a:stretch>
        </p:blipFill>
        <p:spPr>
          <a:xfrm>
            <a:off x="4781409" y="3362953"/>
            <a:ext cx="2019582" cy="1981477"/>
          </a:xfrm>
          <a:prstGeom prst="rect">
            <a:avLst/>
          </a:prstGeom>
        </p:spPr>
      </p:pic>
    </p:spTree>
    <p:extLst>
      <p:ext uri="{BB962C8B-B14F-4D97-AF65-F5344CB8AC3E}">
        <p14:creationId xmlns:p14="http://schemas.microsoft.com/office/powerpoint/2010/main" val="3881329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34B9F-4622-275C-CAD8-13DD4A829D9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351D22-AD5D-2D26-A066-FAD6E9D29877}"/>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CDF9E7AF-9F45-C49A-F38F-E055C90BF0D4}"/>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Quick access to all Spectre Console functionality</a:t>
            </a:r>
          </a:p>
        </p:txBody>
      </p:sp>
      <p:pic>
        <p:nvPicPr>
          <p:cNvPr id="9" name="Picture 8">
            <a:extLst>
              <a:ext uri="{FF2B5EF4-FFF2-40B4-BE49-F238E27FC236}">
                <a16:creationId xmlns:a16="http://schemas.microsoft.com/office/drawing/2014/main" id="{71A1D4EC-ED8A-8095-201B-A488B704C919}"/>
              </a:ext>
            </a:extLst>
          </p:cNvPr>
          <p:cNvPicPr>
            <a:picLocks noChangeAspect="1"/>
          </p:cNvPicPr>
          <p:nvPr/>
        </p:nvPicPr>
        <p:blipFill>
          <a:blip r:embed="rId3"/>
          <a:stretch>
            <a:fillRect/>
          </a:stretch>
        </p:blipFill>
        <p:spPr>
          <a:xfrm>
            <a:off x="1219136" y="2291960"/>
            <a:ext cx="9475716" cy="3245240"/>
          </a:xfrm>
          <a:prstGeom prst="rect">
            <a:avLst/>
          </a:prstGeom>
        </p:spPr>
      </p:pic>
    </p:spTree>
    <p:extLst>
      <p:ext uri="{BB962C8B-B14F-4D97-AF65-F5344CB8AC3E}">
        <p14:creationId xmlns:p14="http://schemas.microsoft.com/office/powerpoint/2010/main" val="2427786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8363-C8BE-9386-1229-0D3AAA585B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B57B20-291E-152E-D8FA-CA3B189A33C5}"/>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D205D6ED-47AD-4247-A72C-A1921D33B99B}"/>
              </a:ext>
            </a:extLst>
          </p:cNvPr>
          <p:cNvSpPr>
            <a:spLocks noGrp="1"/>
          </p:cNvSpPr>
          <p:nvPr>
            <p:ph idx="1"/>
          </p:nvPr>
        </p:nvSpPr>
        <p:spPr>
          <a:xfrm>
            <a:off x="830943" y="1513570"/>
            <a:ext cx="10515600" cy="4351338"/>
          </a:xfrm>
        </p:spPr>
        <p:txBody>
          <a:bodyPr>
            <a:normAutofit/>
          </a:bodyPr>
          <a:lstStyle/>
          <a:p>
            <a:pPr>
              <a:buFont typeface="Wingdings" panose="05000000000000000000" pitchFamily="2" charset="2"/>
              <a:buChar char="§"/>
            </a:pPr>
            <a:r>
              <a:rPr lang="en-US" sz="3200" dirty="0"/>
              <a:t>Extensive examples and help at pwshspectreconsole.com</a:t>
            </a:r>
          </a:p>
          <a:p>
            <a:pPr>
              <a:buFont typeface="Wingdings" panose="05000000000000000000" pitchFamily="2" charset="2"/>
              <a:buChar char="§"/>
            </a:pPr>
            <a:endParaRPr lang="en-US" sz="3200" dirty="0"/>
          </a:p>
        </p:txBody>
      </p:sp>
      <p:pic>
        <p:nvPicPr>
          <p:cNvPr id="2050" name="Picture 2" descr="image">
            <a:extLst>
              <a:ext uri="{FF2B5EF4-FFF2-40B4-BE49-F238E27FC236}">
                <a16:creationId xmlns:a16="http://schemas.microsoft.com/office/drawing/2014/main" id="{5D3F60F5-26FE-ED63-D0D3-4266256F0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8394" y="2200583"/>
            <a:ext cx="7750234" cy="3875117"/>
          </a:xfrm>
          <a:prstGeom prst="rect">
            <a:avLst/>
          </a:prstGeom>
          <a:effectLst>
            <a:outerShdw blurRad="241300" dir="2700000" sx="101000" sy="101000" algn="tl" rotWithShape="0">
              <a:schemeClr val="accent5">
                <a:lumMod val="50000"/>
                <a:alpha val="75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978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US" noProof="0" dirty="0"/>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US" noProof="0" dirty="0"/>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2"/>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contenu 2">
            <a:extLst>
              <a:ext uri="{FF2B5EF4-FFF2-40B4-BE49-F238E27FC236}">
                <a16:creationId xmlns:a16="http://schemas.microsoft.com/office/drawing/2014/main" id="{F7C3D7A3-288F-C5EC-1A3B-3F23CCB04450}"/>
              </a:ext>
            </a:extLst>
          </p:cNvPr>
          <p:cNvSpPr txBox="1">
            <a:spLocks/>
          </p:cNvSpPr>
          <p:nvPr/>
        </p:nvSpPr>
        <p:spPr>
          <a:xfrm>
            <a:off x="830943" y="1665967"/>
            <a:ext cx="10515600"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Wingdings" panose="05000000000000000000" pitchFamily="2" charset="2"/>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buFont typeface="Wingdings" panose="05000000000000000000" pitchFamily="2" charset="2"/>
              <a:buChar char="§"/>
            </a:pPr>
            <a:r>
              <a:rPr lang="en-US" dirty="0">
                <a:solidFill>
                  <a:schemeClr val="tx1"/>
                </a:solidFill>
              </a:rPr>
              <a:t>Hopefully, we don’t need these…</a:t>
            </a:r>
          </a:p>
          <a:p>
            <a:pPr>
              <a:buFont typeface="Wingdings" panose="05000000000000000000" pitchFamily="2" charset="2"/>
              <a:buChar char="§"/>
            </a:pPr>
            <a:r>
              <a:rPr lang="en-US" dirty="0">
                <a:solidFill>
                  <a:schemeClr val="tx1"/>
                </a:solidFill>
              </a:rPr>
              <a:t>Problem: I use docker a lot, the UI is ok, but I want to explore via the terminal.</a:t>
            </a:r>
          </a:p>
          <a:p>
            <a:pPr>
              <a:buFont typeface="Wingdings" panose="05000000000000000000" pitchFamily="2" charset="2"/>
              <a:buChar char="§"/>
            </a:pPr>
            <a:endParaRPr lang="en-US" dirty="0">
              <a:solidFill>
                <a:schemeClr val="tx1"/>
              </a:solidFill>
            </a:endParaRPr>
          </a:p>
        </p:txBody>
      </p:sp>
      <p:sp>
        <p:nvSpPr>
          <p:cNvPr id="11" name="Titre 1">
            <a:extLst>
              <a:ext uri="{FF2B5EF4-FFF2-40B4-BE49-F238E27FC236}">
                <a16:creationId xmlns:a16="http://schemas.microsoft.com/office/drawing/2014/main" id="{C3132357-56AF-A8C8-AB98-83E4EF81AF6B}"/>
              </a:ext>
            </a:extLst>
          </p:cNvPr>
          <p:cNvSpPr>
            <a:spLocks noGrp="1"/>
          </p:cNvSpPr>
          <p:nvPr>
            <p:ph type="title"/>
          </p:nvPr>
        </p:nvSpPr>
        <p:spPr>
          <a:xfrm>
            <a:off x="838200" y="365125"/>
            <a:ext cx="9733280" cy="1325563"/>
          </a:xfrm>
        </p:spPr>
        <p:txBody>
          <a:bodyPr/>
          <a:lstStyle/>
          <a:p>
            <a:r>
              <a:rPr lang="en-US" noProof="0" dirty="0"/>
              <a:t>Spectre Console in Pwsh</a:t>
            </a:r>
          </a:p>
        </p:txBody>
      </p:sp>
    </p:spTree>
    <p:extLst>
      <p:ext uri="{BB962C8B-B14F-4D97-AF65-F5344CB8AC3E}">
        <p14:creationId xmlns:p14="http://schemas.microsoft.com/office/powerpoint/2010/main" val="1609993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US" noProof="0" dirty="0"/>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noProof="0" dirty="0"/>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10B4CA76F661498C662C4D69800553" ma:contentTypeVersion="13" ma:contentTypeDescription="Create a new document." ma:contentTypeScope="" ma:versionID="8e04fcd09f7a7dfd06ff4a6ceabf43dc">
  <xsd:schema xmlns:xsd="http://www.w3.org/2001/XMLSchema" xmlns:xs="http://www.w3.org/2001/XMLSchema" xmlns:p="http://schemas.microsoft.com/office/2006/metadata/properties" xmlns:ns2="58c243a5-121d-4837-b81c-114e1b569ece" xmlns:ns3="77f18391-c91f-4725-9130-63caf76c1806" targetNamespace="http://schemas.microsoft.com/office/2006/metadata/properties" ma:root="true" ma:fieldsID="665b7cb087352da028993c4fb985284c" ns2:_="" ns3:_="">
    <xsd:import namespace="58c243a5-121d-4837-b81c-114e1b569ece"/>
    <xsd:import namespace="77f18391-c91f-4725-9130-63caf76c18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243a5-121d-4837-b81c-114e1b569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7f18391-c91f-4725-9130-63caf76c180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308bfb8-9000-4349-8794-c2de05f0bbcb}" ma:internalName="TaxCatchAll" ma:showField="CatchAllData" ma:web="77f18391-c91f-4725-9130-63caf76c18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8c243a5-121d-4837-b81c-114e1b569ece">
      <Terms xmlns="http://schemas.microsoft.com/office/infopath/2007/PartnerControls"/>
    </lcf76f155ced4ddcb4097134ff3c332f>
    <TaxCatchAll xmlns="77f18391-c91f-4725-9130-63caf76c180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243F5F-D51B-403B-A401-EA162F276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243a5-121d-4837-b81c-114e1b569ece"/>
    <ds:schemaRef ds:uri="77f18391-c91f-4725-9130-63caf76c18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9C06E3-346E-408E-B352-32E922A070CE}">
  <ds:schemaRefs>
    <ds:schemaRef ds:uri="http://schemas.microsoft.com/office/2006/metadata/properties"/>
    <ds:schemaRef ds:uri="http://schemas.microsoft.com/office/infopath/2007/PartnerControls"/>
    <ds:schemaRef ds:uri="2347cc20-e10c-452d-848a-c18e83138525"/>
    <ds:schemaRef ds:uri="85c0ce47-fe9c-4809-bf88-519c39a738e6"/>
    <ds:schemaRef ds:uri="58c243a5-121d-4837-b81c-114e1b569ece"/>
    <ds:schemaRef ds:uri="77f18391-c91f-4725-9130-63caf76c1806"/>
  </ds:schemaRefs>
</ds:datastoreItem>
</file>

<file path=customXml/itemProps3.xml><?xml version="1.0" encoding="utf-8"?>
<ds:datastoreItem xmlns:ds="http://schemas.openxmlformats.org/officeDocument/2006/customXml" ds:itemID="{57D9B22B-F436-4FE5-B6C0-65AB2260F59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972</Words>
  <Application>Microsoft Office PowerPoint</Application>
  <PresentationFormat>Widescreen</PresentationFormat>
  <Paragraphs>118</Paragraphs>
  <Slides>22</Slides>
  <Notes>17</Notes>
  <HiddenSlides>1</HiddenSlides>
  <MMClips>1</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22</vt:i4>
      </vt:variant>
    </vt:vector>
  </HeadingPairs>
  <TitlesOfParts>
    <vt:vector size="33" baseType="lpstr">
      <vt:lpstr>Aptos</vt:lpstr>
      <vt:lpstr>Arial</vt:lpstr>
      <vt:lpstr>Calibri</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PowerShell Terminal UI Design with Spectre Console</vt:lpstr>
      <vt:lpstr>Many thanks to our sponsors:</vt:lpstr>
      <vt:lpstr>Shaun Lawrie</vt:lpstr>
      <vt:lpstr>Spectre Console</vt:lpstr>
      <vt:lpstr>Spectre Console</vt:lpstr>
      <vt:lpstr>Spectre Console</vt:lpstr>
      <vt:lpstr>Spectre Console</vt:lpstr>
      <vt:lpstr>Spectre Console</vt:lpstr>
      <vt:lpstr>Spectre Console</vt:lpstr>
      <vt:lpstr>Spectre Console in Pwsh</vt:lpstr>
      <vt:lpstr>Spectre Console in Pwsh</vt:lpstr>
      <vt:lpstr>Spectre Console in Pwsh</vt:lpstr>
      <vt:lpstr>Spectre Console in Pwsh</vt:lpstr>
      <vt:lpstr>Spectre Console in Pwsh</vt:lpstr>
      <vt:lpstr>Demos</vt:lpstr>
      <vt:lpstr>Spectre Console in Pwsh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2024-03-26T13:08:23Z</dcterms:created>
  <dcterms:modified xsi:type="dcterms:W3CDTF">2025-06-08T10:08:00Z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0x0101006910B4CA76F661498C662C4D69800553</vt:lpwstr>
  </property>
  <property fmtid="{D5CDD505-2E9C-101B-9397-08002B2CF9AE}" pid="3" name="MediaServiceImageTags">
    <vt:lpwstr/>
  </property>
</Properties>
</file>